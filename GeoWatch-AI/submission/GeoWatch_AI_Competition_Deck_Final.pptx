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ru-KZ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1985-ECDD-8D78-9A73-E8D997996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3"/>
            <a:ext cx="121920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BB265-2416-AD02-4378-7A798D830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6"/>
            <a:ext cx="12192000" cy="220768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4AD0B-8957-FE98-2CEC-79BB4496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0DC9F-622B-23FD-3641-6EDFB5660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E077-1387-B6B5-9FC7-A143FB6F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2546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585B4-5A01-E318-5456-7555E617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BEABF-F6B8-E590-430E-9D68D7D2E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8A989-811C-41E3-BBBB-5B081CA5E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A92B6-0027-39D7-0BBC-C2EF8851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F729C-97A9-3E35-BFE0-A8229959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33045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D5B3-21E8-C8A1-1292-4967EF56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4" y="2279654"/>
            <a:ext cx="14020800" cy="380365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EB39A-F8BD-FC3F-CCF9-6C9B67C48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4" y="6119285"/>
            <a:ext cx="14020800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9BC73-4A9F-C639-3543-A9C649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9BE53-D8B5-D1B5-CBA4-C0530FD71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49C88-FE22-F060-14FF-9E80A56A8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08115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868B-F561-7AA7-1C25-B612D4BD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5900F-FAC6-4A62-F5B6-ACCED605C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D6F69-2B18-4DB8-BC12-2E949C3AB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806B1-5E9C-3DD1-6F33-32EE79572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D2345-D5D0-FACA-BFF0-418920C8D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9FA31-D47B-E4C1-E861-9A9608D7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142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FC1AE-B9A9-A7EE-D741-36ABE424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3D19F-B3D2-7FA9-A538-520AE7EEA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20" y="2241550"/>
            <a:ext cx="6877049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02D82-19DE-02DB-93CE-ECC7ED24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20" y="3340102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470D4-E17D-7B63-26AA-34C4AA599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2" y="2241550"/>
            <a:ext cx="6910917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FCD784-244B-66F6-6CD1-D60F9FB954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2" y="3340102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9F3329-4BA7-9516-6A31-D569534D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3701A-D0E5-8C01-82FF-D0FF052E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3CFF86-1E2E-C766-695E-9E2B74B3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29626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D948-B334-C1EF-D976-C00F58F6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3652B-39CA-6839-A281-CDC94D0C5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A1EE0-9992-8855-914B-E40C43D6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E2582-F8BF-C7CE-F7CD-4FD7DE7C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64158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4E599-D955-2264-0510-E38F98EF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55783-3D84-E02E-4210-A5813C49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71A76-63EA-C101-9B8F-E3FE3EF0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5349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235E-BE64-6097-8A7D-AEFE6DD4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09DE-332E-5379-C439-A87612B0F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70"/>
            <a:ext cx="8229600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BC0E4-136C-64E5-B7D8-655022DE1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3"/>
            <a:ext cx="5242983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C24F6-559F-96A1-3F66-5C8E9E15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01ACA-8942-BD2D-94CF-FF5FF2A3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6CA69-7DE5-C25D-D14B-AEFA64DD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1918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E006-77CC-125C-DF37-133CB019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C6198-12F9-2D13-D1EC-54F8E0C69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70"/>
            <a:ext cx="8229600" cy="6498167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15C1F-CDC9-6E6C-34CB-2B3D16198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3"/>
            <a:ext cx="5242983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8DAAE-A21D-377B-3C23-26F4F280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98B4-2AAE-5509-3964-C6AF8BE3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F528B-7C5E-ED44-554D-E5DE2584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7176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38B0-DED9-4720-5FB8-C43012C2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B14BF-1936-226F-AB65-7715769A7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2E92-59AB-F45F-2B1C-B86ECDB0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056B5-7B46-505C-7E39-C5FF6A6B8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2EF39-B10B-FCA0-8AA3-595F0225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4171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711E3-2CB6-07F4-847A-C61D7C5C3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1" y="486837"/>
            <a:ext cx="3505200" cy="77491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18214-3CA7-6070-17F1-00DC588B2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1" y="486837"/>
            <a:ext cx="10312400" cy="77491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59CC-23C1-D1AA-FB77-DF266889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4F543-A1DB-D82B-EBB9-74721D817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BE3CC-B453-F9D6-FA68-61316647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8238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84993A-5E8C-DB42-99BF-0AD08CF9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E5E5A-A84A-F193-6FED-F4EBA5F29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2255-DF92-C679-469D-389F62D10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A73AE-57F4-4E25-ACDC-6E406F4E1640}" type="datetimeFigureOut">
              <a:rPr lang="ru-KZ" smtClean="0"/>
              <a:t>11.09.2026</a:t>
            </a:fld>
            <a:endParaRPr lang="ru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A10EC-4862-FF4B-4E84-ED4C3CAC3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F3234-2A91-09EF-80A8-FCD44A904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62F00-6D5B-489D-B048-14A4A912D4F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1863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17D153-9797-51F4-4A61-5AEF082CC258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6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6E042C-34CA-07F9-955B-860452DB4EA8}"/>
              </a:ext>
            </a:extLst>
          </p:cNvPr>
          <p:cNvSpPr/>
          <p:nvPr/>
        </p:nvSpPr>
        <p:spPr>
          <a:xfrm>
            <a:off x="9652000" y="0"/>
            <a:ext cx="6604000" cy="9144000"/>
          </a:xfrm>
          <a:prstGeom prst="rect">
            <a:avLst/>
          </a:prstGeom>
          <a:solidFill>
            <a:srgbClr val="0931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04BFC2-7DDA-6589-6846-16439DDEAEAF}"/>
              </a:ext>
            </a:extLst>
          </p:cNvPr>
          <p:cNvSpPr/>
          <p:nvPr/>
        </p:nvSpPr>
        <p:spPr>
          <a:xfrm>
            <a:off x="10452100" y="1549400"/>
            <a:ext cx="3860800" cy="3860800"/>
          </a:xfrm>
          <a:prstGeom prst="roundRect">
            <a:avLst/>
          </a:prstGeom>
          <a:solidFill>
            <a:srgbClr val="16C6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E4AB87-CDAE-17D5-EBBC-F873C90C3523}"/>
              </a:ext>
            </a:extLst>
          </p:cNvPr>
          <p:cNvSpPr/>
          <p:nvPr/>
        </p:nvSpPr>
        <p:spPr>
          <a:xfrm>
            <a:off x="10947400" y="2044700"/>
            <a:ext cx="2870200" cy="2870200"/>
          </a:xfrm>
          <a:prstGeom prst="roundRect">
            <a:avLst/>
          </a:prstGeom>
          <a:solidFill>
            <a:srgbClr val="06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D5654-6D12-2C06-F532-D5A000666A3E}"/>
              </a:ext>
            </a:extLst>
          </p:cNvPr>
          <p:cNvSpPr txBox="1"/>
          <p:nvPr/>
        </p:nvSpPr>
        <p:spPr>
          <a:xfrm>
            <a:off x="11493500" y="2374900"/>
            <a:ext cx="20320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0000" b="1">
                <a:solidFill>
                  <a:srgbClr val="16C6B7"/>
                </a:solidFill>
                <a:latin typeface="Aptos" panose="020B0004020202020204" pitchFamily="34" charset="0"/>
              </a:rPr>
              <a:t>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D73F2-F853-121E-79F1-6A599D150E87}"/>
              </a:ext>
            </a:extLst>
          </p:cNvPr>
          <p:cNvSpPr txBox="1"/>
          <p:nvPr/>
        </p:nvSpPr>
        <p:spPr>
          <a:xfrm>
            <a:off x="889000" y="1473200"/>
            <a:ext cx="8001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700" b="1">
                <a:solidFill>
                  <a:srgbClr val="FFFFFF"/>
                </a:solidFill>
                <a:latin typeface="Aptos" panose="020B0004020202020204" pitchFamily="34" charset="0"/>
              </a:rPr>
              <a:t>GeoWatch AI</a:t>
            </a:r>
            <a:endParaRPr lang="ru-KZ" sz="4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4A9CC-17DC-57F1-F647-0A56E50392E1}"/>
              </a:ext>
            </a:extLst>
          </p:cNvPr>
          <p:cNvSpPr txBox="1"/>
          <p:nvPr/>
        </p:nvSpPr>
        <p:spPr>
          <a:xfrm>
            <a:off x="889000" y="2603500"/>
            <a:ext cx="7366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500">
                <a:solidFill>
                  <a:srgbClr val="CFE1E9"/>
                </a:solidFill>
                <a:latin typeface="Aptos" panose="020B0004020202020204" pitchFamily="34" charset="0"/>
              </a:rPr>
              <a:t>Проверяемая аналитика изменений на открытых космических снимках</a:t>
            </a:r>
            <a:endParaRPr lang="ru-KZ" sz="2500">
              <a:solidFill>
                <a:srgbClr val="CFE1E9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04D0C-B2C0-0DA9-07F8-43A791E1C122}"/>
              </a:ext>
            </a:extLst>
          </p:cNvPr>
          <p:cNvSpPr txBox="1"/>
          <p:nvPr/>
        </p:nvSpPr>
        <p:spPr>
          <a:xfrm>
            <a:off x="889000" y="4025900"/>
            <a:ext cx="584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6C6B7"/>
                </a:solidFill>
                <a:latin typeface="Aptos" panose="020B0004020202020204" pitchFamily="34" charset="0"/>
              </a:rPr>
              <a:t>NU STeP × Defence Tech Challenge</a:t>
            </a:r>
            <a:endParaRPr lang="ru-KZ" sz="17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76CE97-4A4B-A7ED-4F62-1F40FF843844}"/>
              </a:ext>
            </a:extLst>
          </p:cNvPr>
          <p:cNvSpPr txBox="1"/>
          <p:nvPr/>
        </p:nvSpPr>
        <p:spPr>
          <a:xfrm>
            <a:off x="889000" y="5740400"/>
            <a:ext cx="5969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000">
                <a:solidFill>
                  <a:srgbClr val="FFFFFF"/>
                </a:solidFill>
                <a:latin typeface="Aptos" panose="020B0004020202020204" pitchFamily="34" charset="0"/>
              </a:rPr>
              <a:t>Бижан Әлижан  </a:t>
            </a: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Team Lead
</a:t>
            </a:r>
            <a:r>
              <a:rPr lang="ru-KZ" sz="2000">
                <a:solidFill>
                  <a:srgbClr val="FFFFFF"/>
                </a:solidFill>
                <a:latin typeface="Aptos" panose="020B0004020202020204" pitchFamily="34" charset="0"/>
              </a:rPr>
              <a:t>Қанымбек Марат  </a:t>
            </a: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Backend
</a:t>
            </a:r>
            <a:r>
              <a:rPr lang="ru-KZ" sz="2000">
                <a:solidFill>
                  <a:srgbClr val="FFFFFF"/>
                </a:solidFill>
                <a:latin typeface="Aptos" panose="020B0004020202020204" pitchFamily="34" charset="0"/>
              </a:rPr>
              <a:t>Құлтас Баубек  </a:t>
            </a:r>
            <a:r>
              <a:rPr lang="en-US" sz="2000">
                <a:solidFill>
                  <a:srgbClr val="FFFFFF"/>
                </a:solidFill>
                <a:latin typeface="Aptos" panose="020B0004020202020204" pitchFamily="34" charset="0"/>
              </a:rPr>
              <a:t>Frontend</a:t>
            </a:r>
            <a:endParaRPr lang="ru-KZ" sz="20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4CA399-2FBD-A7FC-03B3-1500B6ED872C}"/>
              </a:ext>
            </a:extLst>
          </p:cNvPr>
          <p:cNvSpPr txBox="1"/>
          <p:nvPr/>
        </p:nvSpPr>
        <p:spPr>
          <a:xfrm>
            <a:off x="889000" y="80899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400">
                <a:solidFill>
                  <a:srgbClr val="9CB9C4"/>
                </a:solidFill>
                <a:latin typeface="Aptos" panose="020B0004020202020204" pitchFamily="34" charset="0"/>
              </a:rPr>
              <a:t>Конкурсная презентация</a:t>
            </a:r>
          </a:p>
        </p:txBody>
      </p:sp>
    </p:spTree>
    <p:extLst>
      <p:ext uri="{BB962C8B-B14F-4D97-AF65-F5344CB8AC3E}">
        <p14:creationId xmlns:p14="http://schemas.microsoft.com/office/powerpoint/2010/main" val="279963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273B1A-61B4-DDEB-D8A9-766EE2BFB02C}"/>
              </a:ext>
            </a:extLst>
          </p:cNvPr>
          <p:cNvSpPr txBox="1"/>
          <p:nvPr/>
        </p:nvSpPr>
        <p:spPr>
          <a:xfrm>
            <a:off x="685800" y="381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6C6B7"/>
                </a:solidFill>
                <a:latin typeface="Aptos" panose="020B0004020202020204" pitchFamily="34" charset="0"/>
              </a:rPr>
              <a:t>GEOWATCH AI</a:t>
            </a:r>
            <a:endParaRPr lang="ru-KZ" sz="15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83690-2BEE-B08F-4D1E-54FCD5615C89}"/>
              </a:ext>
            </a:extLst>
          </p:cNvPr>
          <p:cNvSpPr txBox="1"/>
          <p:nvPr/>
        </p:nvSpPr>
        <p:spPr>
          <a:xfrm>
            <a:off x="685800" y="1041400"/>
            <a:ext cx="1397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800" b="1">
                <a:solidFill>
                  <a:srgbClr val="102639"/>
                </a:solidFill>
                <a:latin typeface="Aptos" panose="020B0004020202020204" pitchFamily="34" charset="0"/>
              </a:rPr>
              <a:t>Проблема и задача аналитика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B389F-7162-670F-4CD0-CAB4BDFDAA14}"/>
              </a:ext>
            </a:extLst>
          </p:cNvPr>
          <p:cNvSpPr txBox="1"/>
          <p:nvPr/>
        </p:nvSpPr>
        <p:spPr>
          <a:xfrm>
            <a:off x="14909800" y="406400"/>
            <a:ext cx="660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300" b="1">
                <a:solidFill>
                  <a:srgbClr val="526778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DC578F-A862-3BAF-D8EA-37D98969E6F8}"/>
              </a:ext>
            </a:extLst>
          </p:cNvPr>
          <p:cNvCxnSpPr/>
          <p:nvPr/>
        </p:nvCxnSpPr>
        <p:spPr>
          <a:xfrm>
            <a:off x="685800" y="1841500"/>
            <a:ext cx="14871700" cy="0"/>
          </a:xfrm>
          <a:prstGeom prst="line">
            <a:avLst/>
          </a:prstGeom>
          <a:ln w="1270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67D876C-1396-8F46-785B-3382BC0F3C58}"/>
              </a:ext>
            </a:extLst>
          </p:cNvPr>
          <p:cNvSpPr txBox="1"/>
          <p:nvPr/>
        </p:nvSpPr>
        <p:spPr>
          <a:xfrm>
            <a:off x="685800" y="2260600"/>
            <a:ext cx="12065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400" b="1">
                <a:solidFill>
                  <a:srgbClr val="102639"/>
                </a:solidFill>
                <a:latin typeface="Aptos" panose="020B0004020202020204" pitchFamily="34" charset="0"/>
              </a:rPr>
              <a:t>Сравнение снимков «до / после» вручную занимает время и не оставляет удобной истории решений.</a:t>
            </a:r>
            <a:endParaRPr lang="ru-KZ" sz="24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198745-500D-CD8F-A400-246673D4C1B6}"/>
              </a:ext>
            </a:extLst>
          </p:cNvPr>
          <p:cNvSpPr/>
          <p:nvPr/>
        </p:nvSpPr>
        <p:spPr>
          <a:xfrm>
            <a:off x="685800" y="3492500"/>
            <a:ext cx="4419600" cy="3149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D9856-89B9-D9FA-A70D-F8707C45BA38}"/>
              </a:ext>
            </a:extLst>
          </p:cNvPr>
          <p:cNvSpPr txBox="1"/>
          <p:nvPr/>
        </p:nvSpPr>
        <p:spPr>
          <a:xfrm>
            <a:off x="1041400" y="38354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000" b="1">
                <a:solidFill>
                  <a:srgbClr val="315BFE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519369-8ACC-F769-C709-673BDD756FE0}"/>
              </a:ext>
            </a:extLst>
          </p:cNvPr>
          <p:cNvSpPr txBox="1"/>
          <p:nvPr/>
        </p:nvSpPr>
        <p:spPr>
          <a:xfrm>
            <a:off x="1041400" y="4394200"/>
            <a:ext cx="3365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000" b="1">
                <a:solidFill>
                  <a:srgbClr val="102639"/>
                </a:solidFill>
                <a:latin typeface="Aptos" panose="020B0004020202020204" pitchFamily="34" charset="0"/>
              </a:rPr>
              <a:t>Много визуального шума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6B1805-F025-E061-B532-081C1AE3C175}"/>
              </a:ext>
            </a:extLst>
          </p:cNvPr>
          <p:cNvSpPr txBox="1"/>
          <p:nvPr/>
        </p:nvSpPr>
        <p:spPr>
          <a:xfrm>
            <a:off x="1041400" y="5003800"/>
            <a:ext cx="3429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>
                <a:solidFill>
                  <a:srgbClr val="526778"/>
                </a:solidFill>
                <a:latin typeface="Aptos" panose="020B0004020202020204" pitchFamily="34" charset="0"/>
              </a:rPr>
              <a:t>Облачность, сезонность, угол съёмки и разные разрешения создают ложные различия.</a:t>
            </a:r>
            <a:endParaRPr lang="ru-KZ" sz="16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0E21DE-EECD-9471-F459-037C28844972}"/>
              </a:ext>
            </a:extLst>
          </p:cNvPr>
          <p:cNvSpPr/>
          <p:nvPr/>
        </p:nvSpPr>
        <p:spPr>
          <a:xfrm>
            <a:off x="5918200" y="3492500"/>
            <a:ext cx="4419600" cy="3149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374B56-A0C1-8282-C271-944B0D34EC3B}"/>
              </a:ext>
            </a:extLst>
          </p:cNvPr>
          <p:cNvSpPr txBox="1"/>
          <p:nvPr/>
        </p:nvSpPr>
        <p:spPr>
          <a:xfrm>
            <a:off x="6273800" y="38354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000" b="1">
                <a:solidFill>
                  <a:srgbClr val="16C6B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B1E0F9-A7EE-C298-E897-8C88C1F6C722}"/>
              </a:ext>
            </a:extLst>
          </p:cNvPr>
          <p:cNvSpPr txBox="1"/>
          <p:nvPr/>
        </p:nvSpPr>
        <p:spPr>
          <a:xfrm>
            <a:off x="6273800" y="4394200"/>
            <a:ext cx="3429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000" b="1">
                <a:solidFill>
                  <a:srgbClr val="102639"/>
                </a:solidFill>
                <a:latin typeface="Aptos" panose="020B0004020202020204" pitchFamily="34" charset="0"/>
              </a:rPr>
              <a:t>Результат нужно проверить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18E95-1F84-6D4B-7355-21348AAEFA30}"/>
              </a:ext>
            </a:extLst>
          </p:cNvPr>
          <p:cNvSpPr txBox="1"/>
          <p:nvPr/>
        </p:nvSpPr>
        <p:spPr>
          <a:xfrm>
            <a:off x="6273800" y="5003800"/>
            <a:ext cx="3429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>
                <a:solidFill>
                  <a:srgbClr val="526778"/>
                </a:solidFill>
                <a:latin typeface="Aptos" panose="020B0004020202020204" pitchFamily="34" charset="0"/>
              </a:rPr>
              <a:t>Автоматический вывод без evidence и решения эксперта нельзя использовать как окончательный.</a:t>
            </a:r>
            <a:endParaRPr lang="ru-KZ" sz="16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56407A-0CA8-A25F-7E4C-D6293A813AC6}"/>
              </a:ext>
            </a:extLst>
          </p:cNvPr>
          <p:cNvSpPr/>
          <p:nvPr/>
        </p:nvSpPr>
        <p:spPr>
          <a:xfrm>
            <a:off x="11150600" y="3492500"/>
            <a:ext cx="4419600" cy="3149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5CD78-332A-E732-DC15-640772C379AD}"/>
              </a:ext>
            </a:extLst>
          </p:cNvPr>
          <p:cNvSpPr txBox="1"/>
          <p:nvPr/>
        </p:nvSpPr>
        <p:spPr>
          <a:xfrm>
            <a:off x="11506200" y="38354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000" b="1">
                <a:solidFill>
                  <a:srgbClr val="FF965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A68735-D95F-E352-D46C-0AE2F157C0B9}"/>
              </a:ext>
            </a:extLst>
          </p:cNvPr>
          <p:cNvSpPr txBox="1"/>
          <p:nvPr/>
        </p:nvSpPr>
        <p:spPr>
          <a:xfrm>
            <a:off x="11506200" y="4394200"/>
            <a:ext cx="3429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000" b="1">
                <a:solidFill>
                  <a:srgbClr val="102639"/>
                </a:solidFill>
                <a:latin typeface="Aptos" panose="020B0004020202020204" pitchFamily="34" charset="0"/>
              </a:rPr>
              <a:t>Нет единого контура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B15C3F-2DB8-AAA2-CDBD-AE575159FDCF}"/>
              </a:ext>
            </a:extLst>
          </p:cNvPr>
          <p:cNvSpPr txBox="1"/>
          <p:nvPr/>
        </p:nvSpPr>
        <p:spPr>
          <a:xfrm>
            <a:off x="11506200" y="5003800"/>
            <a:ext cx="3429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>
                <a:solidFill>
                  <a:srgbClr val="526778"/>
                </a:solidFill>
                <a:latin typeface="Aptos" panose="020B0004020202020204" pitchFamily="34" charset="0"/>
              </a:rPr>
              <a:t>Файлы, события, комментарии и отчёты часто находятся в разных инструментах.</a:t>
            </a:r>
            <a:endParaRPr lang="ru-KZ" sz="16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18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FC1177-0A62-16B8-ABF5-7E6F096C2054}"/>
              </a:ext>
            </a:extLst>
          </p:cNvPr>
          <p:cNvSpPr txBox="1"/>
          <p:nvPr/>
        </p:nvSpPr>
        <p:spPr>
          <a:xfrm>
            <a:off x="685800" y="381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6C6B7"/>
                </a:solidFill>
                <a:latin typeface="Aptos" panose="020B0004020202020204" pitchFamily="34" charset="0"/>
              </a:rPr>
              <a:t>GEOWATCH AI</a:t>
            </a:r>
            <a:endParaRPr lang="ru-KZ" sz="15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F3B0F-2651-608C-99D4-2F8C143624CD}"/>
              </a:ext>
            </a:extLst>
          </p:cNvPr>
          <p:cNvSpPr txBox="1"/>
          <p:nvPr/>
        </p:nvSpPr>
        <p:spPr>
          <a:xfrm>
            <a:off x="685800" y="1041400"/>
            <a:ext cx="1397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800" b="1">
                <a:solidFill>
                  <a:srgbClr val="102639"/>
                </a:solidFill>
                <a:latin typeface="Aptos" panose="020B0004020202020204" pitchFamily="34" charset="0"/>
              </a:rPr>
              <a:t>Решение </a:t>
            </a:r>
            <a:r>
              <a:rPr lang="en-US" sz="2800" b="1">
                <a:solidFill>
                  <a:srgbClr val="102639"/>
                </a:solidFill>
                <a:latin typeface="Aptos" panose="020B0004020202020204" pitchFamily="34" charset="0"/>
              </a:rPr>
              <a:t>GeoWatch AI</a:t>
            </a:r>
            <a:endParaRPr lang="ru-KZ" sz="2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DCFC3-589F-406B-F55C-F3F48167884B}"/>
              </a:ext>
            </a:extLst>
          </p:cNvPr>
          <p:cNvSpPr txBox="1"/>
          <p:nvPr/>
        </p:nvSpPr>
        <p:spPr>
          <a:xfrm>
            <a:off x="14909800" y="406400"/>
            <a:ext cx="660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300" b="1">
                <a:solidFill>
                  <a:srgbClr val="526778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8C992B-815E-A6DF-3C2C-F47D5A30C216}"/>
              </a:ext>
            </a:extLst>
          </p:cNvPr>
          <p:cNvCxnSpPr/>
          <p:nvPr/>
        </p:nvCxnSpPr>
        <p:spPr>
          <a:xfrm>
            <a:off x="685800" y="1841500"/>
            <a:ext cx="14871700" cy="0"/>
          </a:xfrm>
          <a:prstGeom prst="line">
            <a:avLst/>
          </a:prstGeom>
          <a:ln w="1270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76DCFF-7A10-A9CC-E1D8-CFCF86D241F2}"/>
              </a:ext>
            </a:extLst>
          </p:cNvPr>
          <p:cNvSpPr txBox="1"/>
          <p:nvPr/>
        </p:nvSpPr>
        <p:spPr>
          <a:xfrm>
            <a:off x="685800" y="2286000"/>
            <a:ext cx="10414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300" b="1">
                <a:solidFill>
                  <a:srgbClr val="102639"/>
                </a:solidFill>
                <a:latin typeface="Aptos" panose="020B0004020202020204" pitchFamily="34" charset="0"/>
              </a:rPr>
              <a:t>Локальный MVP переводит снимки и temporal-пары в очередь наблюдений для аналитика.</a:t>
            </a:r>
            <a:endParaRPr lang="ru-KZ" sz="23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90C6B-39E6-199E-718F-B6D05B925AF3}"/>
              </a:ext>
            </a:extLst>
          </p:cNvPr>
          <p:cNvSpPr txBox="1"/>
          <p:nvPr/>
        </p:nvSpPr>
        <p:spPr>
          <a:xfrm>
            <a:off x="1041400" y="3873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800" b="1">
                <a:solidFill>
                  <a:srgbClr val="526778"/>
                </a:solidFill>
                <a:latin typeface="Aptos" panose="020B0004020202020204" pitchFamily="34" charset="0"/>
              </a:rPr>
              <a:t>Источник / </a:t>
            </a:r>
            <a:r>
              <a:rPr lang="en-US" sz="1800" b="1">
                <a:solidFill>
                  <a:srgbClr val="526778"/>
                </a:solidFill>
                <a:latin typeface="Aptos" panose="020B0004020202020204" pitchFamily="34" charset="0"/>
              </a:rPr>
              <a:t>AOI</a:t>
            </a:r>
            <a:endParaRPr lang="ru-KZ" sz="1800" b="1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ED96C-D243-53E6-F58C-8331322D2B4B}"/>
              </a:ext>
            </a:extLst>
          </p:cNvPr>
          <p:cNvSpPr txBox="1"/>
          <p:nvPr/>
        </p:nvSpPr>
        <p:spPr>
          <a:xfrm>
            <a:off x="3644900" y="38735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800" b="1">
                <a:solidFill>
                  <a:srgbClr val="526778"/>
                </a:solidFill>
                <a:latin typeface="Aptos" panose="020B0004020202020204" pitchFamily="34" charset="0"/>
              </a:rPr>
              <a:t>Проверка качества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0094E2-A04D-6913-B809-B6316498E9E7}"/>
              </a:ext>
            </a:extLst>
          </p:cNvPr>
          <p:cNvSpPr txBox="1"/>
          <p:nvPr/>
        </p:nvSpPr>
        <p:spPr>
          <a:xfrm>
            <a:off x="6794500" y="3873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526778"/>
                </a:solidFill>
                <a:latin typeface="Aptos" panose="020B0004020202020204" pitchFamily="34" charset="0"/>
              </a:rPr>
              <a:t>AI-</a:t>
            </a:r>
            <a:r>
              <a:rPr lang="ru-KZ" sz="1800" b="1">
                <a:solidFill>
                  <a:srgbClr val="526778"/>
                </a:solidFill>
                <a:latin typeface="Aptos" panose="020B0004020202020204" pitchFamily="34" charset="0"/>
              </a:rPr>
              <a:t>анализ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ED16C-EBE9-5CF9-309F-7B06CA92DDD5}"/>
              </a:ext>
            </a:extLst>
          </p:cNvPr>
          <p:cNvSpPr txBox="1"/>
          <p:nvPr/>
        </p:nvSpPr>
        <p:spPr>
          <a:xfrm>
            <a:off x="9359900" y="3873500"/>
            <a:ext cx="23368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800" b="1">
                <a:solidFill>
                  <a:srgbClr val="526778"/>
                </a:solidFill>
                <a:latin typeface="Aptos" panose="020B0004020202020204" pitchFamily="34" charset="0"/>
              </a:rPr>
              <a:t>Экспертная проверка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89AD95-C427-0441-47F1-6DF113D02DB6}"/>
              </a:ext>
            </a:extLst>
          </p:cNvPr>
          <p:cNvSpPr txBox="1"/>
          <p:nvPr/>
        </p:nvSpPr>
        <p:spPr>
          <a:xfrm>
            <a:off x="12750800" y="38735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800" b="1">
                <a:solidFill>
                  <a:srgbClr val="526778"/>
                </a:solidFill>
                <a:latin typeface="Aptos" panose="020B0004020202020204" pitchFamily="34" charset="0"/>
              </a:rPr>
              <a:t>Кейс и экспорт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4C63F2-799D-65C7-D89D-EA75D3FCC678}"/>
              </a:ext>
            </a:extLst>
          </p:cNvPr>
          <p:cNvSpPr/>
          <p:nvPr/>
        </p:nvSpPr>
        <p:spPr>
          <a:xfrm>
            <a:off x="1041400" y="4521200"/>
            <a:ext cx="1473200" cy="1473200"/>
          </a:xfrm>
          <a:prstGeom prst="roundRect">
            <a:avLst/>
          </a:prstGeom>
          <a:solidFill>
            <a:srgbClr val="16C6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D986C3-8CEC-3967-72F5-23176672BF11}"/>
              </a:ext>
            </a:extLst>
          </p:cNvPr>
          <p:cNvSpPr/>
          <p:nvPr/>
        </p:nvSpPr>
        <p:spPr>
          <a:xfrm>
            <a:off x="3644900" y="4521200"/>
            <a:ext cx="1473200" cy="1473200"/>
          </a:xfrm>
          <a:prstGeom prst="roundRect">
            <a:avLst/>
          </a:prstGeom>
          <a:solidFill>
            <a:srgbClr val="16C6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615E8C-FD81-7B9E-9ED1-0E3FB4CE5FCE}"/>
              </a:ext>
            </a:extLst>
          </p:cNvPr>
          <p:cNvSpPr/>
          <p:nvPr/>
        </p:nvSpPr>
        <p:spPr>
          <a:xfrm>
            <a:off x="6794500" y="4521200"/>
            <a:ext cx="1473200" cy="1473200"/>
          </a:xfrm>
          <a:prstGeom prst="roundRect">
            <a:avLst/>
          </a:prstGeom>
          <a:solidFill>
            <a:srgbClr val="16C6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9B2174-80FD-214B-6C65-581DD9C2B5FD}"/>
              </a:ext>
            </a:extLst>
          </p:cNvPr>
          <p:cNvSpPr/>
          <p:nvPr/>
        </p:nvSpPr>
        <p:spPr>
          <a:xfrm>
            <a:off x="9359900" y="4521200"/>
            <a:ext cx="1473200" cy="1473200"/>
          </a:xfrm>
          <a:prstGeom prst="roundRect">
            <a:avLst/>
          </a:prstGeom>
          <a:solidFill>
            <a:srgbClr val="16C6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C1BD572-FAEC-41D9-8CCB-B92F7630C354}"/>
              </a:ext>
            </a:extLst>
          </p:cNvPr>
          <p:cNvSpPr/>
          <p:nvPr/>
        </p:nvSpPr>
        <p:spPr>
          <a:xfrm>
            <a:off x="12750800" y="4521200"/>
            <a:ext cx="1473200" cy="1473200"/>
          </a:xfrm>
          <a:prstGeom prst="roundRect">
            <a:avLst/>
          </a:prstGeom>
          <a:solidFill>
            <a:srgbClr val="16C6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754772-FEBB-99F4-F406-1C2A387E52CB}"/>
              </a:ext>
            </a:extLst>
          </p:cNvPr>
          <p:cNvCxnSpPr/>
          <p:nvPr/>
        </p:nvCxnSpPr>
        <p:spPr>
          <a:xfrm>
            <a:off x="2514600" y="5257800"/>
            <a:ext cx="1130300" cy="0"/>
          </a:xfrm>
          <a:prstGeom prst="line">
            <a:avLst/>
          </a:prstGeom>
          <a:ln w="25400">
            <a:solidFill>
              <a:srgbClr val="315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65C8B8-6174-BFC3-EFDD-CD098394773E}"/>
              </a:ext>
            </a:extLst>
          </p:cNvPr>
          <p:cNvCxnSpPr/>
          <p:nvPr/>
        </p:nvCxnSpPr>
        <p:spPr>
          <a:xfrm>
            <a:off x="5118100" y="5257800"/>
            <a:ext cx="1130300" cy="0"/>
          </a:xfrm>
          <a:prstGeom prst="line">
            <a:avLst/>
          </a:prstGeom>
          <a:ln w="25400">
            <a:solidFill>
              <a:srgbClr val="315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D99323-E227-A431-C275-EAAA81563D36}"/>
              </a:ext>
            </a:extLst>
          </p:cNvPr>
          <p:cNvCxnSpPr/>
          <p:nvPr/>
        </p:nvCxnSpPr>
        <p:spPr>
          <a:xfrm>
            <a:off x="8267700" y="5257800"/>
            <a:ext cx="1130300" cy="0"/>
          </a:xfrm>
          <a:prstGeom prst="line">
            <a:avLst/>
          </a:prstGeom>
          <a:ln w="25400">
            <a:solidFill>
              <a:srgbClr val="315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EF8A7F-9607-5818-BB25-7144EBB0B77F}"/>
              </a:ext>
            </a:extLst>
          </p:cNvPr>
          <p:cNvCxnSpPr/>
          <p:nvPr/>
        </p:nvCxnSpPr>
        <p:spPr>
          <a:xfrm>
            <a:off x="10833100" y="5257800"/>
            <a:ext cx="1130300" cy="0"/>
          </a:xfrm>
          <a:prstGeom prst="line">
            <a:avLst/>
          </a:prstGeom>
          <a:ln w="25400">
            <a:solidFill>
              <a:srgbClr val="315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D11197E-583F-0D03-5A97-748866DCF1BF}"/>
              </a:ext>
            </a:extLst>
          </p:cNvPr>
          <p:cNvSpPr txBox="1"/>
          <p:nvPr/>
        </p:nvSpPr>
        <p:spPr>
          <a:xfrm>
            <a:off x="863600" y="6286500"/>
            <a:ext cx="1854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600" b="1">
                <a:solidFill>
                  <a:srgbClr val="102639"/>
                </a:solidFill>
                <a:latin typeface="Aptos" panose="020B0004020202020204" pitchFamily="34" charset="0"/>
              </a:rPr>
              <a:t>Фото и </a:t>
            </a:r>
            <a:r>
              <a:rPr lang="en-US" sz="1600" b="1">
                <a:solidFill>
                  <a:srgbClr val="102639"/>
                </a:solidFill>
                <a:latin typeface="Aptos" panose="020B0004020202020204" pitchFamily="34" charset="0"/>
              </a:rPr>
              <a:t>GeoTIFF</a:t>
            </a:r>
            <a:endParaRPr lang="ru-KZ" sz="16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ACFE6E-B568-BEE0-71D7-630992D9EAE9}"/>
              </a:ext>
            </a:extLst>
          </p:cNvPr>
          <p:cNvSpPr txBox="1"/>
          <p:nvPr/>
        </p:nvSpPr>
        <p:spPr>
          <a:xfrm>
            <a:off x="3251200" y="6286500"/>
            <a:ext cx="233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02639"/>
                </a:solidFill>
                <a:latin typeface="Aptos" panose="020B0004020202020204" pitchFamily="34" charset="0"/>
              </a:rPr>
              <a:t>Gate </a:t>
            </a:r>
            <a:r>
              <a:rPr lang="ru-KZ" sz="1600" b="1">
                <a:solidFill>
                  <a:srgbClr val="102639"/>
                </a:solidFill>
                <a:latin typeface="Aptos" panose="020B0004020202020204" pitchFamily="34" charset="0"/>
              </a:rPr>
              <a:t>по совместимости пары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BA9201-2113-4016-6FEB-5E1DB42FE13F}"/>
              </a:ext>
            </a:extLst>
          </p:cNvPr>
          <p:cNvSpPr txBox="1"/>
          <p:nvPr/>
        </p:nvSpPr>
        <p:spPr>
          <a:xfrm>
            <a:off x="6286500" y="6286500"/>
            <a:ext cx="2349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02639"/>
                </a:solidFill>
                <a:latin typeface="Aptos" panose="020B0004020202020204" pitchFamily="34" charset="0"/>
              </a:rPr>
              <a:t>YOLO, </a:t>
            </a:r>
            <a:r>
              <a:rPr lang="ru-KZ" sz="1600" b="1">
                <a:solidFill>
                  <a:srgbClr val="102639"/>
                </a:solidFill>
                <a:latin typeface="Aptos" panose="020B0004020202020204" pitchFamily="34" charset="0"/>
              </a:rPr>
              <a:t>тайлы, </a:t>
            </a:r>
            <a:r>
              <a:rPr lang="en-US" sz="1600" b="1">
                <a:solidFill>
                  <a:srgbClr val="102639"/>
                </a:solidFill>
                <a:latin typeface="Aptos" panose="020B0004020202020204" pitchFamily="34" charset="0"/>
              </a:rPr>
              <a:t>NMS, </a:t>
            </a:r>
            <a:r>
              <a:rPr lang="ru-KZ" sz="1600" b="1">
                <a:solidFill>
                  <a:srgbClr val="102639"/>
                </a:solidFill>
                <a:latin typeface="Aptos" panose="020B0004020202020204" pitchFamily="34" charset="0"/>
              </a:rPr>
              <a:t>события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769EDE-B5E1-1A57-C24D-CD25AD6369D1}"/>
              </a:ext>
            </a:extLst>
          </p:cNvPr>
          <p:cNvSpPr txBox="1"/>
          <p:nvPr/>
        </p:nvSpPr>
        <p:spPr>
          <a:xfrm>
            <a:off x="8940800" y="6286500"/>
            <a:ext cx="2692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02639"/>
                </a:solidFill>
                <a:latin typeface="Aptos" panose="020B0004020202020204" pitchFamily="34" charset="0"/>
              </a:rPr>
              <a:t>confirmed / rejected / needs_review</a:t>
            </a:r>
            <a:endParaRPr lang="ru-KZ" sz="16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B9B9AC-206C-21F6-5258-5BD2F8B2C674}"/>
              </a:ext>
            </a:extLst>
          </p:cNvPr>
          <p:cNvSpPr txBox="1"/>
          <p:nvPr/>
        </p:nvSpPr>
        <p:spPr>
          <a:xfrm>
            <a:off x="12471400" y="6286500"/>
            <a:ext cx="2616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02639"/>
                </a:solidFill>
                <a:latin typeface="Aptos" panose="020B0004020202020204" pitchFamily="34" charset="0"/>
              </a:rPr>
              <a:t>JSON, CSV, HTML, PDF, ZIP</a:t>
            </a:r>
            <a:endParaRPr lang="ru-KZ" sz="16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88DC25-A4A7-6F68-C631-4BEB60CD36ED}"/>
              </a:ext>
            </a:extLst>
          </p:cNvPr>
          <p:cNvSpPr txBox="1"/>
          <p:nvPr/>
        </p:nvSpPr>
        <p:spPr>
          <a:xfrm>
            <a:off x="685800" y="7747000"/>
            <a:ext cx="133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800">
                <a:solidFill>
                  <a:srgbClr val="526778"/>
                </a:solidFill>
                <a:latin typeface="Aptos" panose="020B0004020202020204" pitchFamily="34" charset="0"/>
              </a:rPr>
              <a:t>Каждое событие требует статуса review. GeoWatch AI не принимает автономных решений.</a:t>
            </a:r>
            <a:endParaRPr lang="ru-KZ" sz="18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31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20EA93-2557-C607-9D08-D979C0E130EE}"/>
              </a:ext>
            </a:extLst>
          </p:cNvPr>
          <p:cNvSpPr txBox="1"/>
          <p:nvPr/>
        </p:nvSpPr>
        <p:spPr>
          <a:xfrm>
            <a:off x="685800" y="381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6C6B7"/>
                </a:solidFill>
                <a:latin typeface="Aptos" panose="020B0004020202020204" pitchFamily="34" charset="0"/>
              </a:rPr>
              <a:t>GEOWATCH AI</a:t>
            </a:r>
            <a:endParaRPr lang="ru-KZ" sz="15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080E7-E372-F689-708D-8F80FC3236EF}"/>
              </a:ext>
            </a:extLst>
          </p:cNvPr>
          <p:cNvSpPr txBox="1"/>
          <p:nvPr/>
        </p:nvSpPr>
        <p:spPr>
          <a:xfrm>
            <a:off x="685800" y="1041400"/>
            <a:ext cx="1397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102639"/>
                </a:solidFill>
                <a:latin typeface="Aptos" panose="020B0004020202020204" pitchFamily="34" charset="0"/>
              </a:rPr>
              <a:t>Рабочий экран: анализ и evidence</a:t>
            </a:r>
            <a:endParaRPr lang="ru-KZ" sz="2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C61A70-9F20-AAF2-4645-98372E1A7E2E}"/>
              </a:ext>
            </a:extLst>
          </p:cNvPr>
          <p:cNvSpPr txBox="1"/>
          <p:nvPr/>
        </p:nvSpPr>
        <p:spPr>
          <a:xfrm>
            <a:off x="14909800" y="406400"/>
            <a:ext cx="660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300" b="1">
                <a:solidFill>
                  <a:srgbClr val="526778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37A93-153D-DD42-931E-2BDD206F7872}"/>
              </a:ext>
            </a:extLst>
          </p:cNvPr>
          <p:cNvCxnSpPr/>
          <p:nvPr/>
        </p:nvCxnSpPr>
        <p:spPr>
          <a:xfrm>
            <a:off x="685800" y="1841500"/>
            <a:ext cx="14871700" cy="0"/>
          </a:xfrm>
          <a:prstGeom prst="line">
            <a:avLst/>
          </a:prstGeom>
          <a:ln w="1270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FDC0941-F975-D9E3-BC46-5F0544D8BD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60600"/>
            <a:ext cx="9436100" cy="5308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C3B0F6-A736-EC08-B174-C7A64F1D8B5A}"/>
              </a:ext>
            </a:extLst>
          </p:cNvPr>
          <p:cNvSpPr txBox="1"/>
          <p:nvPr/>
        </p:nvSpPr>
        <p:spPr>
          <a:xfrm>
            <a:off x="10845800" y="25146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400" b="1">
                <a:solidFill>
                  <a:srgbClr val="102639"/>
                </a:solidFill>
                <a:latin typeface="Aptos" panose="020B0004020202020204" pitchFamily="34" charset="0"/>
              </a:rPr>
              <a:t>Интерфейс помогает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03607-BEBB-D485-01FA-362729F9C178}"/>
              </a:ext>
            </a:extLst>
          </p:cNvPr>
          <p:cNvSpPr txBox="1"/>
          <p:nvPr/>
        </p:nvSpPr>
        <p:spPr>
          <a:xfrm>
            <a:off x="10845800" y="3302000"/>
            <a:ext cx="4318000" cy="16619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800">
                <a:solidFill>
                  <a:srgbClr val="526778"/>
                </a:solidFill>
                <a:latin typeface="Aptos" panose="020B0004020202020204" pitchFamily="34" charset="0"/>
              </a:rPr>
              <a:t>• загрузить снимок и выбрать порог confidence
• увидеть bounding boxes, класс и score
• открыть evidence card конкретного объекта
• направить результат на review</a:t>
            </a:r>
            <a:endParaRPr lang="ru-KZ" sz="18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0BB6CE-0EDA-DDB6-4EAD-58E1F25E87B8}"/>
              </a:ext>
            </a:extLst>
          </p:cNvPr>
          <p:cNvSpPr/>
          <p:nvPr/>
        </p:nvSpPr>
        <p:spPr>
          <a:xfrm>
            <a:off x="10845800" y="6350000"/>
            <a:ext cx="3860800" cy="914400"/>
          </a:xfrm>
          <a:prstGeom prst="roundRect">
            <a:avLst/>
          </a:prstGeom>
          <a:solidFill>
            <a:srgbClr val="E2F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89A41-7598-0205-D45F-16F3FF442410}"/>
              </a:ext>
            </a:extLst>
          </p:cNvPr>
          <p:cNvSpPr txBox="1"/>
          <p:nvPr/>
        </p:nvSpPr>
        <p:spPr>
          <a:xfrm>
            <a:off x="11137900" y="6578600"/>
            <a:ext cx="3429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102639"/>
                </a:solidFill>
                <a:latin typeface="Aptos" panose="020B0004020202020204" pitchFamily="34" charset="0"/>
              </a:rPr>
              <a:t>Модель работает локально.
Секреты не попадают в UI.</a:t>
            </a:r>
            <a:endParaRPr lang="ru-KZ" sz="16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80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7F30FC-F814-8042-F2C4-D3F1D4716374}"/>
              </a:ext>
            </a:extLst>
          </p:cNvPr>
          <p:cNvSpPr txBox="1"/>
          <p:nvPr/>
        </p:nvSpPr>
        <p:spPr>
          <a:xfrm>
            <a:off x="685800" y="381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6C6B7"/>
                </a:solidFill>
                <a:latin typeface="Aptos" panose="020B0004020202020204" pitchFamily="34" charset="0"/>
              </a:rPr>
              <a:t>GEOWATCH AI</a:t>
            </a:r>
            <a:endParaRPr lang="ru-KZ" sz="15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66DEE-B1E4-19F8-CAC2-B3E19678F801}"/>
              </a:ext>
            </a:extLst>
          </p:cNvPr>
          <p:cNvSpPr txBox="1"/>
          <p:nvPr/>
        </p:nvSpPr>
        <p:spPr>
          <a:xfrm>
            <a:off x="685800" y="1041400"/>
            <a:ext cx="1397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800" b="1">
                <a:solidFill>
                  <a:srgbClr val="102639"/>
                </a:solidFill>
                <a:latin typeface="Aptos" panose="020B0004020202020204" pitchFamily="34" charset="0"/>
              </a:rPr>
              <a:t>Хронология изменений «до / после»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23117-56C6-3AAC-949C-17CD1BF9BCE1}"/>
              </a:ext>
            </a:extLst>
          </p:cNvPr>
          <p:cNvSpPr txBox="1"/>
          <p:nvPr/>
        </p:nvSpPr>
        <p:spPr>
          <a:xfrm>
            <a:off x="14909800" y="406400"/>
            <a:ext cx="660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300" b="1">
                <a:solidFill>
                  <a:srgbClr val="526778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FF9899-A82B-42CB-54C9-A8F970EE25BB}"/>
              </a:ext>
            </a:extLst>
          </p:cNvPr>
          <p:cNvCxnSpPr/>
          <p:nvPr/>
        </p:nvCxnSpPr>
        <p:spPr>
          <a:xfrm>
            <a:off x="685800" y="1841500"/>
            <a:ext cx="14871700" cy="0"/>
          </a:xfrm>
          <a:prstGeom prst="line">
            <a:avLst/>
          </a:prstGeom>
          <a:ln w="1270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1B31784-B2CA-20C2-7E08-EC0FEEDDCEF6}"/>
              </a:ext>
            </a:extLst>
          </p:cNvPr>
          <p:cNvSpPr txBox="1"/>
          <p:nvPr/>
        </p:nvSpPr>
        <p:spPr>
          <a:xfrm>
            <a:off x="685800" y="2260600"/>
            <a:ext cx="1333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200" b="1">
                <a:solidFill>
                  <a:srgbClr val="102639"/>
                </a:solidFill>
                <a:latin typeface="Aptos" panose="020B0004020202020204" pitchFamily="34" charset="0"/>
              </a:rPr>
              <a:t>Отдельный workspace показывает две даты, слои объектов и события appeared, disappeared, stable.</a:t>
            </a:r>
            <a:endParaRPr lang="ru-KZ" sz="22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37EF95-B481-2DCA-1A5F-BF85022EAD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111500"/>
            <a:ext cx="9271000" cy="5207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EF61B1-5F9A-4C51-A12C-7610F2EFA269}"/>
              </a:ext>
            </a:extLst>
          </p:cNvPr>
          <p:cNvSpPr txBox="1"/>
          <p:nvPr/>
        </p:nvSpPr>
        <p:spPr>
          <a:xfrm>
            <a:off x="10744200" y="3200400"/>
            <a:ext cx="406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200" b="1">
                <a:solidFill>
                  <a:srgbClr val="102639"/>
                </a:solidFill>
                <a:latin typeface="Aptos" panose="020B0004020202020204" pitchFamily="34" charset="0"/>
              </a:rPr>
              <a:t>Что проверяет система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0D291B-9070-305C-04DF-11DFE2D85E78}"/>
              </a:ext>
            </a:extLst>
          </p:cNvPr>
          <p:cNvSpPr txBox="1"/>
          <p:nvPr/>
        </p:nvSpPr>
        <p:spPr>
          <a:xfrm>
            <a:off x="10744200" y="3962400"/>
            <a:ext cx="4318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800">
                <a:solidFill>
                  <a:srgbClr val="526778"/>
                </a:solidFill>
                <a:latin typeface="Aptos" panose="020B0004020202020204" pitchFamily="34" charset="0"/>
              </a:rPr>
              <a:t>• качество входных изображений
• overlap, CRS и grid для GeoTIFF
• безопасную регистрацию JPG/PNG
• связь событий с review и кейсом</a:t>
            </a:r>
            <a:endParaRPr lang="ru-KZ" sz="18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27B488-869B-E37F-8DC9-BCE7538A0C80}"/>
              </a:ext>
            </a:extLst>
          </p:cNvPr>
          <p:cNvSpPr/>
          <p:nvPr/>
        </p:nvSpPr>
        <p:spPr>
          <a:xfrm>
            <a:off x="10744200" y="6858000"/>
            <a:ext cx="4191000" cy="939800"/>
          </a:xfrm>
          <a:prstGeom prst="roundRect">
            <a:avLst/>
          </a:prstGeom>
          <a:solidFill>
            <a:srgbClr val="FFEF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AF2F12-24D5-9D70-F38E-AE13244D86FA}"/>
              </a:ext>
            </a:extLst>
          </p:cNvPr>
          <p:cNvSpPr txBox="1"/>
          <p:nvPr/>
        </p:nvSpPr>
        <p:spPr>
          <a:xfrm>
            <a:off x="11023600" y="7086600"/>
            <a:ext cx="37084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 b="1">
                <a:solidFill>
                  <a:srgbClr val="102639"/>
                </a:solidFill>
                <a:latin typeface="Aptos" panose="020B0004020202020204" pitchFamily="34" charset="0"/>
              </a:rPr>
              <a:t>Демо temporal-flow синтетическое.
Он показывает product flow, не метрику change model.</a:t>
            </a:r>
            <a:endParaRPr lang="ru-KZ" sz="15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97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9B2C35-00DD-919F-88F0-A038B9248F41}"/>
              </a:ext>
            </a:extLst>
          </p:cNvPr>
          <p:cNvSpPr txBox="1"/>
          <p:nvPr/>
        </p:nvSpPr>
        <p:spPr>
          <a:xfrm>
            <a:off x="685800" y="381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6C6B7"/>
                </a:solidFill>
                <a:latin typeface="Aptos" panose="020B0004020202020204" pitchFamily="34" charset="0"/>
              </a:rPr>
              <a:t>GEOWATCH AI</a:t>
            </a:r>
            <a:endParaRPr lang="ru-KZ" sz="15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776A4-1132-2A98-1F07-9A1D11C2B684}"/>
              </a:ext>
            </a:extLst>
          </p:cNvPr>
          <p:cNvSpPr txBox="1"/>
          <p:nvPr/>
        </p:nvSpPr>
        <p:spPr>
          <a:xfrm>
            <a:off x="685800" y="1041400"/>
            <a:ext cx="1397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800" b="1">
                <a:solidFill>
                  <a:srgbClr val="102639"/>
                </a:solidFill>
                <a:latin typeface="Aptos" panose="020B0004020202020204" pitchFamily="34" charset="0"/>
              </a:rPr>
              <a:t>Архитектура </a:t>
            </a:r>
            <a:r>
              <a:rPr lang="en-US" sz="2800" b="1">
                <a:solidFill>
                  <a:srgbClr val="102639"/>
                </a:solidFill>
                <a:latin typeface="Aptos" panose="020B0004020202020204" pitchFamily="34" charset="0"/>
              </a:rPr>
              <a:t>MVP</a:t>
            </a:r>
            <a:endParaRPr lang="ru-KZ" sz="2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705F1-9FD9-DD13-7CDB-4A074694A5A6}"/>
              </a:ext>
            </a:extLst>
          </p:cNvPr>
          <p:cNvSpPr txBox="1"/>
          <p:nvPr/>
        </p:nvSpPr>
        <p:spPr>
          <a:xfrm>
            <a:off x="14909800" y="406400"/>
            <a:ext cx="660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300" b="1">
                <a:solidFill>
                  <a:srgbClr val="526778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2C9CE3-54D6-6A79-5803-B3FE7331F577}"/>
              </a:ext>
            </a:extLst>
          </p:cNvPr>
          <p:cNvCxnSpPr/>
          <p:nvPr/>
        </p:nvCxnSpPr>
        <p:spPr>
          <a:xfrm>
            <a:off x="685800" y="1841500"/>
            <a:ext cx="14871700" cy="0"/>
          </a:xfrm>
          <a:prstGeom prst="line">
            <a:avLst/>
          </a:prstGeom>
          <a:ln w="1270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37C5E06-11D4-F4BD-BAE6-CDB80DCA345E}"/>
              </a:ext>
            </a:extLst>
          </p:cNvPr>
          <p:cNvSpPr txBox="1"/>
          <p:nvPr/>
        </p:nvSpPr>
        <p:spPr>
          <a:xfrm>
            <a:off x="685800" y="2260600"/>
            <a:ext cx="1346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200" b="1">
                <a:solidFill>
                  <a:srgbClr val="102639"/>
                </a:solidFill>
                <a:latin typeface="Aptos" panose="020B0004020202020204" pitchFamily="34" charset="0"/>
              </a:rPr>
              <a:t>Единый pipeline используется в Streamlit и FastAPI, а результаты и review хранятся локально.</a:t>
            </a:r>
            <a:endParaRPr lang="ru-KZ" sz="22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28DF83-E760-965F-39CB-2D723A40ABCB}"/>
              </a:ext>
            </a:extLst>
          </p:cNvPr>
          <p:cNvSpPr/>
          <p:nvPr/>
        </p:nvSpPr>
        <p:spPr>
          <a:xfrm>
            <a:off x="685800" y="3810000"/>
            <a:ext cx="3073400" cy="2476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1E725A-E081-AAA0-BE42-ABD8AD5A1E30}"/>
              </a:ext>
            </a:extLst>
          </p:cNvPr>
          <p:cNvSpPr/>
          <p:nvPr/>
        </p:nvSpPr>
        <p:spPr>
          <a:xfrm>
            <a:off x="990600" y="4152900"/>
            <a:ext cx="533400" cy="533400"/>
          </a:xfrm>
          <a:prstGeom prst="roundRect">
            <a:avLst/>
          </a:prstGeom>
          <a:solidFill>
            <a:srgbClr val="315B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A8EEF-6FC4-775C-30D8-9339A5A090E3}"/>
              </a:ext>
            </a:extLst>
          </p:cNvPr>
          <p:cNvSpPr txBox="1"/>
          <p:nvPr/>
        </p:nvSpPr>
        <p:spPr>
          <a:xfrm>
            <a:off x="1168400" y="4305300"/>
            <a:ext cx="279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F2825-A0A1-4FB0-353B-59CB5C52242D}"/>
              </a:ext>
            </a:extLst>
          </p:cNvPr>
          <p:cNvSpPr txBox="1"/>
          <p:nvPr/>
        </p:nvSpPr>
        <p:spPr>
          <a:xfrm>
            <a:off x="990600" y="4953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102639"/>
                </a:solidFill>
                <a:latin typeface="Aptos" panose="020B0004020202020204" pitchFamily="34" charset="0"/>
              </a:rPr>
              <a:t>Streamlit UI</a:t>
            </a:r>
            <a:endParaRPr lang="ru-KZ" sz="1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D49DD6-3E58-E3A3-A8A2-69E1325EE1B7}"/>
              </a:ext>
            </a:extLst>
          </p:cNvPr>
          <p:cNvSpPr txBox="1"/>
          <p:nvPr/>
        </p:nvSpPr>
        <p:spPr>
          <a:xfrm>
            <a:off x="990600" y="5499100"/>
            <a:ext cx="241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>
                <a:solidFill>
                  <a:srgbClr val="526778"/>
                </a:solidFill>
                <a:latin typeface="Aptos" panose="020B0004020202020204" pitchFamily="34" charset="0"/>
              </a:rPr>
              <a:t>Анализ, изменения, </a:t>
            </a:r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review, </a:t>
            </a:r>
            <a:r>
              <a:rPr lang="ru-KZ" sz="1500">
                <a:solidFill>
                  <a:srgbClr val="526778"/>
                </a:solidFill>
                <a:latin typeface="Aptos" panose="020B0004020202020204" pitchFamily="34" charset="0"/>
              </a:rPr>
              <a:t>кейсы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D7AD0B-9214-8BC6-A668-0347D32431DD}"/>
              </a:ext>
            </a:extLst>
          </p:cNvPr>
          <p:cNvSpPr/>
          <p:nvPr/>
        </p:nvSpPr>
        <p:spPr>
          <a:xfrm>
            <a:off x="4445000" y="3810000"/>
            <a:ext cx="3073400" cy="2476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A30CBE-C00B-6D86-0F5D-EA34B528B2C2}"/>
              </a:ext>
            </a:extLst>
          </p:cNvPr>
          <p:cNvSpPr/>
          <p:nvPr/>
        </p:nvSpPr>
        <p:spPr>
          <a:xfrm>
            <a:off x="4749800" y="4152900"/>
            <a:ext cx="533400" cy="533400"/>
          </a:xfrm>
          <a:prstGeom prst="roundRect">
            <a:avLst/>
          </a:prstGeom>
          <a:solidFill>
            <a:srgbClr val="16C6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0CCC19-B66D-5DBF-1763-776154FE09E1}"/>
              </a:ext>
            </a:extLst>
          </p:cNvPr>
          <p:cNvSpPr txBox="1"/>
          <p:nvPr/>
        </p:nvSpPr>
        <p:spPr>
          <a:xfrm>
            <a:off x="4927600" y="4305300"/>
            <a:ext cx="279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4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B801C7-045B-C8C9-B92B-485FCC319696}"/>
              </a:ext>
            </a:extLst>
          </p:cNvPr>
          <p:cNvSpPr txBox="1"/>
          <p:nvPr/>
        </p:nvSpPr>
        <p:spPr>
          <a:xfrm>
            <a:off x="4749800" y="4953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102639"/>
                </a:solidFill>
                <a:latin typeface="Aptos" panose="020B0004020202020204" pitchFamily="34" charset="0"/>
              </a:rPr>
              <a:t>FastAPI</a:t>
            </a:r>
            <a:endParaRPr lang="ru-KZ" sz="1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73AB1-112A-BAE1-E8B5-A674C6E3F44A}"/>
              </a:ext>
            </a:extLst>
          </p:cNvPr>
          <p:cNvSpPr txBox="1"/>
          <p:nvPr/>
        </p:nvSpPr>
        <p:spPr>
          <a:xfrm>
            <a:off x="4749800" y="5499100"/>
            <a:ext cx="241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>
                <a:solidFill>
                  <a:srgbClr val="526778"/>
                </a:solidFill>
                <a:latin typeface="Aptos" panose="020B0004020202020204" pitchFamily="34" charset="0"/>
              </a:rPr>
              <a:t>Интеграционный </a:t>
            </a:r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API </a:t>
            </a:r>
            <a:r>
              <a:rPr lang="ru-KZ" sz="1500">
                <a:solidFill>
                  <a:srgbClr val="526778"/>
                </a:solidFill>
                <a:latin typeface="Aptos" panose="020B0004020202020204" pitchFamily="34" charset="0"/>
              </a:rPr>
              <a:t>и </a:t>
            </a:r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OpenAPI</a:t>
            </a:r>
            <a:endParaRPr lang="ru-KZ" sz="15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31AFEA-1F82-2A49-4581-C237D9B1D567}"/>
              </a:ext>
            </a:extLst>
          </p:cNvPr>
          <p:cNvSpPr/>
          <p:nvPr/>
        </p:nvSpPr>
        <p:spPr>
          <a:xfrm>
            <a:off x="8204200" y="3810000"/>
            <a:ext cx="3073400" cy="2476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3C513EF-50FF-70D7-4D45-349B1CA9E549}"/>
              </a:ext>
            </a:extLst>
          </p:cNvPr>
          <p:cNvSpPr/>
          <p:nvPr/>
        </p:nvSpPr>
        <p:spPr>
          <a:xfrm>
            <a:off x="8509000" y="4152900"/>
            <a:ext cx="533400" cy="533400"/>
          </a:xfrm>
          <a:prstGeom prst="roundRect">
            <a:avLst/>
          </a:prstGeom>
          <a:solidFill>
            <a:srgbClr val="FF96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91365-A1B7-3CFE-A2F4-92D493B66DED}"/>
              </a:ext>
            </a:extLst>
          </p:cNvPr>
          <p:cNvSpPr txBox="1"/>
          <p:nvPr/>
        </p:nvSpPr>
        <p:spPr>
          <a:xfrm>
            <a:off x="8686800" y="4305300"/>
            <a:ext cx="279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4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5CC128-DE7B-8F18-4A19-F7556D40EC3E}"/>
              </a:ext>
            </a:extLst>
          </p:cNvPr>
          <p:cNvSpPr txBox="1"/>
          <p:nvPr/>
        </p:nvSpPr>
        <p:spPr>
          <a:xfrm>
            <a:off x="8509000" y="4953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102639"/>
                </a:solidFill>
                <a:latin typeface="Aptos" panose="020B0004020202020204" pitchFamily="34" charset="0"/>
              </a:rPr>
              <a:t>Core pipeline</a:t>
            </a:r>
            <a:endParaRPr lang="ru-KZ" sz="1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0EF075-2627-3FC8-7120-0CB13FBEE677}"/>
              </a:ext>
            </a:extLst>
          </p:cNvPr>
          <p:cNvSpPr txBox="1"/>
          <p:nvPr/>
        </p:nvSpPr>
        <p:spPr>
          <a:xfrm>
            <a:off x="8509000" y="5499100"/>
            <a:ext cx="241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preprocessing, tiles, YOLO, matching, reporting</a:t>
            </a:r>
            <a:endParaRPr lang="ru-KZ" sz="15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39F8470-3592-FD66-C781-BDA86D69CA4C}"/>
              </a:ext>
            </a:extLst>
          </p:cNvPr>
          <p:cNvSpPr/>
          <p:nvPr/>
        </p:nvSpPr>
        <p:spPr>
          <a:xfrm>
            <a:off x="11963400" y="3810000"/>
            <a:ext cx="3073400" cy="2476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69C1B8A-DE87-DD35-5CF2-2902884B9AE6}"/>
              </a:ext>
            </a:extLst>
          </p:cNvPr>
          <p:cNvSpPr/>
          <p:nvPr/>
        </p:nvSpPr>
        <p:spPr>
          <a:xfrm>
            <a:off x="12268200" y="4152900"/>
            <a:ext cx="533400" cy="533400"/>
          </a:xfrm>
          <a:prstGeom prst="roundRect">
            <a:avLst/>
          </a:prstGeom>
          <a:solidFill>
            <a:srgbClr val="06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7EFBA6-31B7-F89D-8B90-1EE1F6B7A852}"/>
              </a:ext>
            </a:extLst>
          </p:cNvPr>
          <p:cNvSpPr txBox="1"/>
          <p:nvPr/>
        </p:nvSpPr>
        <p:spPr>
          <a:xfrm>
            <a:off x="12446000" y="4305300"/>
            <a:ext cx="279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4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3C3D69-A6B4-AB53-4595-6AFFD057A47F}"/>
              </a:ext>
            </a:extLst>
          </p:cNvPr>
          <p:cNvSpPr txBox="1"/>
          <p:nvPr/>
        </p:nvSpPr>
        <p:spPr>
          <a:xfrm>
            <a:off x="12268200" y="49530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102639"/>
                </a:solidFill>
                <a:latin typeface="Aptos" panose="020B0004020202020204" pitchFamily="34" charset="0"/>
              </a:rPr>
              <a:t>SQLite + artifacts</a:t>
            </a:r>
            <a:endParaRPr lang="ru-KZ" sz="1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F7BB63-39D1-872D-27B2-E91A5B490A74}"/>
              </a:ext>
            </a:extLst>
          </p:cNvPr>
          <p:cNvSpPr txBox="1"/>
          <p:nvPr/>
        </p:nvSpPr>
        <p:spPr>
          <a:xfrm>
            <a:off x="12268200" y="5499100"/>
            <a:ext cx="241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>
                <a:solidFill>
                  <a:srgbClr val="526778"/>
                </a:solidFill>
                <a:latin typeface="Aptos" panose="020B0004020202020204" pitchFamily="34" charset="0"/>
              </a:rPr>
              <a:t>история, </a:t>
            </a:r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jobs, exports, evidence</a:t>
            </a:r>
            <a:endParaRPr lang="ru-KZ" sz="15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22E8D0-E62F-F124-00F9-1C1920A0607A}"/>
              </a:ext>
            </a:extLst>
          </p:cNvPr>
          <p:cNvSpPr txBox="1"/>
          <p:nvPr/>
        </p:nvSpPr>
        <p:spPr>
          <a:xfrm>
            <a:off x="685800" y="7696200"/>
            <a:ext cx="1143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26778"/>
                </a:solidFill>
                <a:latin typeface="Aptos" panose="020B0004020202020204" pitchFamily="34" charset="0"/>
              </a:rPr>
              <a:t>Optional: Google Earth Engine adapter. </a:t>
            </a:r>
            <a:r>
              <a:rPr lang="ru-KZ" sz="1700">
                <a:solidFill>
                  <a:srgbClr val="526778"/>
                </a:solidFill>
                <a:latin typeface="Aptos" panose="020B0004020202020204" pitchFamily="34" charset="0"/>
              </a:rPr>
              <a:t>Для реальных сцен нужны </a:t>
            </a:r>
            <a:r>
              <a:rPr lang="en-US" sz="1700">
                <a:solidFill>
                  <a:srgbClr val="526778"/>
                </a:solidFill>
                <a:latin typeface="Aptos" panose="020B0004020202020204" pitchFamily="34" charset="0"/>
              </a:rPr>
              <a:t>Cloud Project </a:t>
            </a:r>
            <a:r>
              <a:rPr lang="ru-KZ" sz="1700">
                <a:solidFill>
                  <a:srgbClr val="526778"/>
                </a:solidFill>
                <a:latin typeface="Aptos" panose="020B0004020202020204" pitchFamily="34" charset="0"/>
              </a:rPr>
              <a:t>и авторизация.</a:t>
            </a:r>
          </a:p>
        </p:txBody>
      </p:sp>
    </p:spTree>
    <p:extLst>
      <p:ext uri="{BB962C8B-B14F-4D97-AF65-F5344CB8AC3E}">
        <p14:creationId xmlns:p14="http://schemas.microsoft.com/office/powerpoint/2010/main" val="393806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5FF272-7E08-6106-427D-AC63668C68DE}"/>
              </a:ext>
            </a:extLst>
          </p:cNvPr>
          <p:cNvSpPr txBox="1"/>
          <p:nvPr/>
        </p:nvSpPr>
        <p:spPr>
          <a:xfrm>
            <a:off x="685800" y="381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6C6B7"/>
                </a:solidFill>
                <a:latin typeface="Aptos" panose="020B0004020202020204" pitchFamily="34" charset="0"/>
              </a:rPr>
              <a:t>GEOWATCH AI</a:t>
            </a:r>
            <a:endParaRPr lang="ru-KZ" sz="15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53F3F-DF3F-F09A-644C-902FCA4DE309}"/>
              </a:ext>
            </a:extLst>
          </p:cNvPr>
          <p:cNvSpPr txBox="1"/>
          <p:nvPr/>
        </p:nvSpPr>
        <p:spPr>
          <a:xfrm>
            <a:off x="685800" y="1041400"/>
            <a:ext cx="1397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02639"/>
                </a:solidFill>
                <a:latin typeface="Aptos" panose="020B0004020202020204" pitchFamily="34" charset="0"/>
              </a:rPr>
              <a:t>ML-</a:t>
            </a:r>
            <a:r>
              <a:rPr lang="ru-KZ" sz="2800" b="1">
                <a:solidFill>
                  <a:srgbClr val="102639"/>
                </a:solidFill>
                <a:latin typeface="Aptos" panose="020B0004020202020204" pitchFamily="34" charset="0"/>
              </a:rPr>
              <a:t>модель и проверяемость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A353D-F9FE-9C48-786A-41C26C2D29ED}"/>
              </a:ext>
            </a:extLst>
          </p:cNvPr>
          <p:cNvSpPr txBox="1"/>
          <p:nvPr/>
        </p:nvSpPr>
        <p:spPr>
          <a:xfrm>
            <a:off x="14909800" y="406400"/>
            <a:ext cx="660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300" b="1">
                <a:solidFill>
                  <a:srgbClr val="526778"/>
                </a:solidFill>
                <a:latin typeface="Aptos" panose="020B0004020202020204" pitchFamily="34" charset="0"/>
              </a:rPr>
              <a:t>07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B6F1C4-DE05-B801-42F6-82C61653B98D}"/>
              </a:ext>
            </a:extLst>
          </p:cNvPr>
          <p:cNvCxnSpPr/>
          <p:nvPr/>
        </p:nvCxnSpPr>
        <p:spPr>
          <a:xfrm>
            <a:off x="685800" y="1841500"/>
            <a:ext cx="14871700" cy="0"/>
          </a:xfrm>
          <a:prstGeom prst="line">
            <a:avLst/>
          </a:prstGeom>
          <a:ln w="1270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271BE7-246B-BE2A-8489-590C79D44B12}"/>
              </a:ext>
            </a:extLst>
          </p:cNvPr>
          <p:cNvSpPr/>
          <p:nvPr/>
        </p:nvSpPr>
        <p:spPr>
          <a:xfrm>
            <a:off x="685800" y="2413000"/>
            <a:ext cx="6477000" cy="495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F066E-38E9-F086-3C21-F2E1B5A1EB03}"/>
              </a:ext>
            </a:extLst>
          </p:cNvPr>
          <p:cNvSpPr txBox="1"/>
          <p:nvPr/>
        </p:nvSpPr>
        <p:spPr>
          <a:xfrm>
            <a:off x="1066800" y="2844800"/>
            <a:ext cx="5207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100" b="1">
                <a:solidFill>
                  <a:srgbClr val="102639"/>
                </a:solidFill>
                <a:latin typeface="Aptos" panose="020B0004020202020204" pitchFamily="34" charset="0"/>
              </a:rPr>
              <a:t>Активный </a:t>
            </a:r>
            <a:r>
              <a:rPr lang="en-US" sz="2100" b="1">
                <a:solidFill>
                  <a:srgbClr val="102639"/>
                </a:solidFill>
                <a:latin typeface="Aptos" panose="020B0004020202020204" pitchFamily="34" charset="0"/>
              </a:rPr>
              <a:t>detection baseline</a:t>
            </a:r>
            <a:endParaRPr lang="ru-KZ" sz="21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C7671-D0B5-1C2C-D8F3-ADCCD9645107}"/>
              </a:ext>
            </a:extLst>
          </p:cNvPr>
          <p:cNvSpPr txBox="1"/>
          <p:nvPr/>
        </p:nvSpPr>
        <p:spPr>
          <a:xfrm>
            <a:off x="1066800" y="3581400"/>
            <a:ext cx="533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>
                <a:solidFill>
                  <a:srgbClr val="526778"/>
                </a:solidFill>
                <a:latin typeface="Aptos" panose="020B0004020202020204" pitchFamily="34" charset="0"/>
              </a:rPr>
              <a:t>YOLOv8n-OBB, DOTA4
</a:t>
            </a:r>
            <a:r>
              <a:rPr lang="ru-KZ" sz="1800">
                <a:solidFill>
                  <a:srgbClr val="526778"/>
                </a:solidFill>
                <a:latin typeface="Aptos" panose="020B0004020202020204" pitchFamily="34" charset="0"/>
              </a:rPr>
              <a:t>Классы: </a:t>
            </a:r>
            <a:r>
              <a:rPr lang="en-US" sz="1800">
                <a:solidFill>
                  <a:srgbClr val="526778"/>
                </a:solidFill>
                <a:latin typeface="Aptos" panose="020B0004020202020204" pitchFamily="34" charset="0"/>
              </a:rPr>
              <a:t>aircraft, ship, small vehicle, large vehicle</a:t>
            </a:r>
            <a:endParaRPr lang="ru-KZ" sz="18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C4F4F-140B-1660-5950-A66243A98DD0}"/>
              </a:ext>
            </a:extLst>
          </p:cNvPr>
          <p:cNvSpPr txBox="1"/>
          <p:nvPr/>
        </p:nvSpPr>
        <p:spPr>
          <a:xfrm>
            <a:off x="1066800" y="4978400"/>
            <a:ext cx="495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700" b="1">
                <a:solidFill>
                  <a:srgbClr val="16C6B7"/>
                </a:solidFill>
                <a:latin typeface="Aptos" panose="020B0004020202020204" pitchFamily="34" charset="0"/>
              </a:rPr>
              <a:t>Изолированный </a:t>
            </a:r>
            <a:r>
              <a:rPr lang="en-US" sz="1700" b="1">
                <a:solidFill>
                  <a:srgbClr val="16C6B7"/>
                </a:solidFill>
                <a:latin typeface="Aptos" panose="020B0004020202020204" pitchFamily="34" charset="0"/>
              </a:rPr>
              <a:t>scene-separated test split</a:t>
            </a:r>
            <a:endParaRPr lang="ru-KZ" sz="17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004F3F-7C07-027B-EAE9-15C875F091F6}"/>
              </a:ext>
            </a:extLst>
          </p:cNvPr>
          <p:cNvSpPr txBox="1"/>
          <p:nvPr/>
        </p:nvSpPr>
        <p:spPr>
          <a:xfrm>
            <a:off x="1066800" y="5562600"/>
            <a:ext cx="4064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102639"/>
                </a:solidFill>
                <a:latin typeface="Aptos" panose="020B0004020202020204" pitchFamily="34" charset="0"/>
              </a:rPr>
              <a:t>Precision  0.8741
Recall     0.8354
F1             0.8543
mAP50      0.8915
mAP50-95 0.6719</a:t>
            </a:r>
            <a:endParaRPr lang="ru-KZ" sz="1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FF8C5F-F4D7-6CA4-559D-7B92A92DE4FE}"/>
              </a:ext>
            </a:extLst>
          </p:cNvPr>
          <p:cNvSpPr/>
          <p:nvPr/>
        </p:nvSpPr>
        <p:spPr>
          <a:xfrm>
            <a:off x="7975600" y="2413000"/>
            <a:ext cx="7594600" cy="495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EADFCF-BB6F-D104-DB96-E6E136A53FE3}"/>
              </a:ext>
            </a:extLst>
          </p:cNvPr>
          <p:cNvSpPr txBox="1"/>
          <p:nvPr/>
        </p:nvSpPr>
        <p:spPr>
          <a:xfrm>
            <a:off x="8356600" y="2844800"/>
            <a:ext cx="508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100" b="1">
                <a:solidFill>
                  <a:srgbClr val="102639"/>
                </a:solidFill>
                <a:latin typeface="Aptos" panose="020B0004020202020204" pitchFamily="34" charset="0"/>
              </a:rPr>
              <a:t>Честные границы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47E526-9BAA-34C7-06FA-DA4D84C633B4}"/>
              </a:ext>
            </a:extLst>
          </p:cNvPr>
          <p:cNvSpPr txBox="1"/>
          <p:nvPr/>
        </p:nvSpPr>
        <p:spPr>
          <a:xfrm>
            <a:off x="8356600" y="3581400"/>
            <a:ext cx="6350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800">
                <a:solidFill>
                  <a:srgbClr val="526778"/>
                </a:solidFill>
                <a:latin typeface="Aptos" panose="020B0004020202020204" pitchFamily="34" charset="0"/>
              </a:rPr>
              <a:t>Метрики относятся к DOTA4 и четырём указанным классам. Они не доказывают автоматическое выявление строительства.</a:t>
            </a:r>
            <a:endParaRPr lang="ru-KZ" sz="18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0402A-B420-9185-96A5-FC4EE2199439}"/>
              </a:ext>
            </a:extLst>
          </p:cNvPr>
          <p:cNvSpPr txBox="1"/>
          <p:nvPr/>
        </p:nvSpPr>
        <p:spPr>
          <a:xfrm>
            <a:off x="8356600" y="4991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FF965A"/>
                </a:solidFill>
                <a:latin typeface="Aptos" panose="020B0004020202020204" pitchFamily="34" charset="0"/>
              </a:rPr>
              <a:t>SpaceNet 7 change detection</a:t>
            </a:r>
            <a:endParaRPr lang="ru-KZ" sz="1800" b="1">
              <a:solidFill>
                <a:srgbClr val="FF965A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4F15B3-AAB9-C629-9340-04F66CEF1C4A}"/>
              </a:ext>
            </a:extLst>
          </p:cNvPr>
          <p:cNvSpPr txBox="1"/>
          <p:nvPr/>
        </p:nvSpPr>
        <p:spPr>
          <a:xfrm>
            <a:off x="8356600" y="5524500"/>
            <a:ext cx="6350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800">
                <a:solidFill>
                  <a:srgbClr val="526778"/>
                </a:solidFill>
                <a:latin typeface="Aptos" panose="020B0004020202020204" pitchFamily="34" charset="0"/>
              </a:rPr>
              <a:t>Подготовлен pipeline и AOI-separated split. Реальное обучение и независимая test-оценка остаются следующим этапом.</a:t>
            </a:r>
            <a:endParaRPr lang="ru-KZ" sz="18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C189A-F3EF-A4BB-1BA7-808FFCABF173}"/>
              </a:ext>
            </a:extLst>
          </p:cNvPr>
          <p:cNvSpPr txBox="1"/>
          <p:nvPr/>
        </p:nvSpPr>
        <p:spPr>
          <a:xfrm>
            <a:off x="685800" y="7937500"/>
            <a:ext cx="1397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>
                <a:solidFill>
                  <a:srgbClr val="526778"/>
                </a:solidFill>
                <a:latin typeface="Aptos" panose="020B0004020202020204" pitchFamily="34" charset="0"/>
              </a:rPr>
              <a:t>Checkpoint hash, seed, dataset manifest и метрики лежат в репозитории рядом с моделью.</a:t>
            </a:r>
            <a:endParaRPr lang="ru-KZ" sz="16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6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D7450E-A7C8-35D4-8529-3FA8121309AD}"/>
              </a:ext>
            </a:extLst>
          </p:cNvPr>
          <p:cNvSpPr txBox="1"/>
          <p:nvPr/>
        </p:nvSpPr>
        <p:spPr>
          <a:xfrm>
            <a:off x="685800" y="381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6C6B7"/>
                </a:solidFill>
                <a:latin typeface="Aptos" panose="020B0004020202020204" pitchFamily="34" charset="0"/>
              </a:rPr>
              <a:t>GEOWATCH AI</a:t>
            </a:r>
            <a:endParaRPr lang="ru-KZ" sz="15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3BBC9-9828-9130-7E94-EB36DA760144}"/>
              </a:ext>
            </a:extLst>
          </p:cNvPr>
          <p:cNvSpPr txBox="1"/>
          <p:nvPr/>
        </p:nvSpPr>
        <p:spPr>
          <a:xfrm>
            <a:off x="685800" y="1041400"/>
            <a:ext cx="1397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800" b="1">
                <a:solidFill>
                  <a:srgbClr val="102639"/>
                </a:solidFill>
                <a:latin typeface="Aptos" panose="020B0004020202020204" pitchFamily="34" charset="0"/>
              </a:rPr>
              <a:t>Соответствие ключевым требованиям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0D3C0-94CC-84A1-612F-A213424FB97F}"/>
              </a:ext>
            </a:extLst>
          </p:cNvPr>
          <p:cNvSpPr txBox="1"/>
          <p:nvPr/>
        </p:nvSpPr>
        <p:spPr>
          <a:xfrm>
            <a:off x="14909800" y="406400"/>
            <a:ext cx="660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300" b="1">
                <a:solidFill>
                  <a:srgbClr val="526778"/>
                </a:solidFill>
                <a:latin typeface="Aptos" panose="020B0004020202020204" pitchFamily="34" charset="0"/>
              </a:rPr>
              <a:t>08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58F56A-F972-0A07-3BD3-098D9003413C}"/>
              </a:ext>
            </a:extLst>
          </p:cNvPr>
          <p:cNvCxnSpPr/>
          <p:nvPr/>
        </p:nvCxnSpPr>
        <p:spPr>
          <a:xfrm>
            <a:off x="685800" y="1841500"/>
            <a:ext cx="14871700" cy="0"/>
          </a:xfrm>
          <a:prstGeom prst="line">
            <a:avLst/>
          </a:prstGeom>
          <a:ln w="1270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09D402-0BFD-9B6C-E130-337EFDA5A99C}"/>
              </a:ext>
            </a:extLst>
          </p:cNvPr>
          <p:cNvSpPr/>
          <p:nvPr/>
        </p:nvSpPr>
        <p:spPr>
          <a:xfrm>
            <a:off x="685800" y="2387600"/>
            <a:ext cx="14859000" cy="584200"/>
          </a:xfrm>
          <a:prstGeom prst="roundRect">
            <a:avLst/>
          </a:prstGeom>
          <a:solidFill>
            <a:srgbClr val="06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C445C-8C79-D418-F488-16FF25EFB2DD}"/>
              </a:ext>
            </a:extLst>
          </p:cNvPr>
          <p:cNvSpPr txBox="1"/>
          <p:nvPr/>
        </p:nvSpPr>
        <p:spPr>
          <a:xfrm>
            <a:off x="990600" y="2565400"/>
            <a:ext cx="5270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600" b="1">
                <a:solidFill>
                  <a:srgbClr val="FFFFFF"/>
                </a:solidFill>
                <a:latin typeface="Aptos" panose="020B0004020202020204" pitchFamily="34" charset="0"/>
              </a:rPr>
              <a:t>Требование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12873-A7DB-C15B-95DE-7BDBE4C70A98}"/>
              </a:ext>
            </a:extLst>
          </p:cNvPr>
          <p:cNvSpPr txBox="1"/>
          <p:nvPr/>
        </p:nvSpPr>
        <p:spPr>
          <a:xfrm>
            <a:off x="6858000" y="25654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600" b="1">
                <a:solidFill>
                  <a:srgbClr val="FFFFFF"/>
                </a:solidFill>
                <a:latin typeface="Aptos" panose="020B0004020202020204" pitchFamily="34" charset="0"/>
              </a:rPr>
              <a:t>Статус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258C75-2A1F-5B46-734B-F28D45BA5E89}"/>
              </a:ext>
            </a:extLst>
          </p:cNvPr>
          <p:cNvSpPr txBox="1"/>
          <p:nvPr/>
        </p:nvSpPr>
        <p:spPr>
          <a:xfrm>
            <a:off x="9169400" y="2565400"/>
            <a:ext cx="571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600" b="1">
                <a:solidFill>
                  <a:srgbClr val="FFFFFF"/>
                </a:solidFill>
                <a:latin typeface="Aptos" panose="020B0004020202020204" pitchFamily="34" charset="0"/>
              </a:rPr>
              <a:t>Реализация / ограничение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A87692-FE8D-9901-E5E6-33208B66C206}"/>
              </a:ext>
            </a:extLst>
          </p:cNvPr>
          <p:cNvSpPr/>
          <p:nvPr/>
        </p:nvSpPr>
        <p:spPr>
          <a:xfrm>
            <a:off x="685800" y="2984500"/>
            <a:ext cx="14859000" cy="698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7CA4F-16BD-2CD1-3F78-AFE649F41BE9}"/>
              </a:ext>
            </a:extLst>
          </p:cNvPr>
          <p:cNvSpPr txBox="1"/>
          <p:nvPr/>
        </p:nvSpPr>
        <p:spPr>
          <a:xfrm>
            <a:off x="990600" y="3162300"/>
            <a:ext cx="533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>
                <a:solidFill>
                  <a:srgbClr val="102639"/>
                </a:solidFill>
                <a:latin typeface="Aptos" panose="020B0004020202020204" pitchFamily="34" charset="0"/>
              </a:rPr>
              <a:t>Форматы </a:t>
            </a:r>
            <a:r>
              <a:rPr lang="en-US" sz="1500">
                <a:solidFill>
                  <a:srgbClr val="102639"/>
                </a:solidFill>
                <a:latin typeface="Aptos" panose="020B0004020202020204" pitchFamily="34" charset="0"/>
              </a:rPr>
              <a:t>JPG, PNG, GeoTIFF</a:t>
            </a:r>
            <a:endParaRPr lang="ru-KZ" sz="1500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043D2-D936-DC7F-93B3-60AEB71CB5F8}"/>
              </a:ext>
            </a:extLst>
          </p:cNvPr>
          <p:cNvSpPr txBox="1"/>
          <p:nvPr/>
        </p:nvSpPr>
        <p:spPr>
          <a:xfrm>
            <a:off x="6858000" y="31623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 b="1">
                <a:solidFill>
                  <a:srgbClr val="16C6B7"/>
                </a:solidFill>
                <a:latin typeface="Aptos" panose="020B0004020202020204" pitchFamily="34" charset="0"/>
              </a:rPr>
              <a:t>Готово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2E822-D1DC-FF61-4F1A-EDC8307B36C6}"/>
              </a:ext>
            </a:extLst>
          </p:cNvPr>
          <p:cNvSpPr txBox="1"/>
          <p:nvPr/>
        </p:nvSpPr>
        <p:spPr>
          <a:xfrm>
            <a:off x="9169400" y="3162300"/>
            <a:ext cx="571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26778"/>
                </a:solidFill>
                <a:latin typeface="Aptos" panose="020B0004020202020204" pitchFamily="34" charset="0"/>
              </a:rPr>
              <a:t>preprocessing + quality gate</a:t>
            </a:r>
            <a:endParaRPr lang="ru-KZ" sz="14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2B613C-C9D6-47A9-ABFF-15888AD0F6B6}"/>
              </a:ext>
            </a:extLst>
          </p:cNvPr>
          <p:cNvSpPr/>
          <p:nvPr/>
        </p:nvSpPr>
        <p:spPr>
          <a:xfrm>
            <a:off x="685800" y="3721100"/>
            <a:ext cx="14859000" cy="698500"/>
          </a:xfrm>
          <a:prstGeom prst="rect">
            <a:avLst/>
          </a:prstGeom>
          <a:solidFill>
            <a:srgbClr val="EFF4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AE1BCD-418F-FF97-1CAB-5DB79A4A8B9D}"/>
              </a:ext>
            </a:extLst>
          </p:cNvPr>
          <p:cNvSpPr txBox="1"/>
          <p:nvPr/>
        </p:nvSpPr>
        <p:spPr>
          <a:xfrm>
            <a:off x="990600" y="3898900"/>
            <a:ext cx="533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>
                <a:solidFill>
                  <a:srgbClr val="102639"/>
                </a:solidFill>
                <a:latin typeface="Aptos" panose="020B0004020202020204" pitchFamily="34" charset="0"/>
              </a:rPr>
              <a:t>Детекция, классы, </a:t>
            </a:r>
            <a:r>
              <a:rPr lang="en-US" sz="1500">
                <a:solidFill>
                  <a:srgbClr val="102639"/>
                </a:solidFill>
                <a:latin typeface="Aptos" panose="020B0004020202020204" pitchFamily="34" charset="0"/>
              </a:rPr>
              <a:t>bbox, confidence</a:t>
            </a:r>
            <a:endParaRPr lang="ru-KZ" sz="1500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55512B-F3BB-99EB-D408-722B826427AE}"/>
              </a:ext>
            </a:extLst>
          </p:cNvPr>
          <p:cNvSpPr txBox="1"/>
          <p:nvPr/>
        </p:nvSpPr>
        <p:spPr>
          <a:xfrm>
            <a:off x="6858000" y="38989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 b="1">
                <a:solidFill>
                  <a:srgbClr val="16C6B7"/>
                </a:solidFill>
                <a:latin typeface="Aptos" panose="020B0004020202020204" pitchFamily="34" charset="0"/>
              </a:rPr>
              <a:t>Готово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0A59B8-1110-83D2-8E00-631D63180DEC}"/>
              </a:ext>
            </a:extLst>
          </p:cNvPr>
          <p:cNvSpPr txBox="1"/>
          <p:nvPr/>
        </p:nvSpPr>
        <p:spPr>
          <a:xfrm>
            <a:off x="9169400" y="3898900"/>
            <a:ext cx="571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26778"/>
                </a:solidFill>
                <a:latin typeface="Aptos" panose="020B0004020202020204" pitchFamily="34" charset="0"/>
              </a:rPr>
              <a:t>YOLO-OBB, tiling, class-aware NMS</a:t>
            </a:r>
            <a:endParaRPr lang="ru-KZ" sz="14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D259C0-ECC9-C93C-73D5-2AC2B65C3AD1}"/>
              </a:ext>
            </a:extLst>
          </p:cNvPr>
          <p:cNvSpPr/>
          <p:nvPr/>
        </p:nvSpPr>
        <p:spPr>
          <a:xfrm>
            <a:off x="685800" y="4457700"/>
            <a:ext cx="14859000" cy="698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6EB049-54AF-4D1E-A7D3-13A9666EEC0D}"/>
              </a:ext>
            </a:extLst>
          </p:cNvPr>
          <p:cNvSpPr txBox="1"/>
          <p:nvPr/>
        </p:nvSpPr>
        <p:spPr>
          <a:xfrm>
            <a:off x="990600" y="4635500"/>
            <a:ext cx="533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102639"/>
                </a:solidFill>
                <a:latin typeface="Aptos" panose="020B0004020202020204" pitchFamily="34" charset="0"/>
              </a:rPr>
              <a:t>Пара «до / после» и chronology</a:t>
            </a:r>
            <a:endParaRPr lang="ru-KZ" sz="1500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0479FC-C6B9-967D-918D-AE6F56DD8BEC}"/>
              </a:ext>
            </a:extLst>
          </p:cNvPr>
          <p:cNvSpPr txBox="1"/>
          <p:nvPr/>
        </p:nvSpPr>
        <p:spPr>
          <a:xfrm>
            <a:off x="6858000" y="46355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 b="1">
                <a:solidFill>
                  <a:srgbClr val="FF965A"/>
                </a:solidFill>
                <a:latin typeface="Aptos" panose="020B0004020202020204" pitchFamily="34" charset="0"/>
              </a:rPr>
              <a:t>Частично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34DE53-EA03-24A6-4E0C-036A768D72D7}"/>
              </a:ext>
            </a:extLst>
          </p:cNvPr>
          <p:cNvSpPr txBox="1"/>
          <p:nvPr/>
        </p:nvSpPr>
        <p:spPr>
          <a:xfrm>
            <a:off x="9169400" y="4635500"/>
            <a:ext cx="571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>
                <a:solidFill>
                  <a:srgbClr val="526778"/>
                </a:solidFill>
                <a:latin typeface="Aptos" panose="020B0004020202020204" pitchFamily="34" charset="0"/>
              </a:rPr>
              <a:t>events + review; реальная change-model в следующем этапе</a:t>
            </a:r>
            <a:endParaRPr lang="ru-KZ" sz="14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C1B115-3819-DFB5-8894-D13476145029}"/>
              </a:ext>
            </a:extLst>
          </p:cNvPr>
          <p:cNvSpPr/>
          <p:nvPr/>
        </p:nvSpPr>
        <p:spPr>
          <a:xfrm>
            <a:off x="685800" y="5194300"/>
            <a:ext cx="14859000" cy="698500"/>
          </a:xfrm>
          <a:prstGeom prst="rect">
            <a:avLst/>
          </a:prstGeom>
          <a:solidFill>
            <a:srgbClr val="EFF4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E02D6E-EF40-861D-FB09-073D6CEB3A6F}"/>
              </a:ext>
            </a:extLst>
          </p:cNvPr>
          <p:cNvSpPr txBox="1"/>
          <p:nvPr/>
        </p:nvSpPr>
        <p:spPr>
          <a:xfrm>
            <a:off x="990600" y="5372100"/>
            <a:ext cx="533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>
                <a:solidFill>
                  <a:srgbClr val="102639"/>
                </a:solidFill>
                <a:latin typeface="Aptos" panose="020B0004020202020204" pitchFamily="34" charset="0"/>
              </a:rPr>
              <a:t>Экспертная проверка и история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5A9482-B07F-467E-E60C-0DA79CF6B607}"/>
              </a:ext>
            </a:extLst>
          </p:cNvPr>
          <p:cNvSpPr txBox="1"/>
          <p:nvPr/>
        </p:nvSpPr>
        <p:spPr>
          <a:xfrm>
            <a:off x="6858000" y="53721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 b="1">
                <a:solidFill>
                  <a:srgbClr val="16C6B7"/>
                </a:solidFill>
                <a:latin typeface="Aptos" panose="020B0004020202020204" pitchFamily="34" charset="0"/>
              </a:rPr>
              <a:t>Готово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723B5D-7F8A-8CD2-4AE5-D5D731176D79}"/>
              </a:ext>
            </a:extLst>
          </p:cNvPr>
          <p:cNvSpPr txBox="1"/>
          <p:nvPr/>
        </p:nvSpPr>
        <p:spPr>
          <a:xfrm>
            <a:off x="9169400" y="5372100"/>
            <a:ext cx="571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26778"/>
                </a:solidFill>
                <a:latin typeface="Aptos" panose="020B0004020202020204" pitchFamily="34" charset="0"/>
              </a:rPr>
              <a:t>review queue, SQLite persistence, cases</a:t>
            </a:r>
            <a:endParaRPr lang="ru-KZ" sz="14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04892C-56B2-DEC8-D172-A0380A07C14B}"/>
              </a:ext>
            </a:extLst>
          </p:cNvPr>
          <p:cNvSpPr/>
          <p:nvPr/>
        </p:nvSpPr>
        <p:spPr>
          <a:xfrm>
            <a:off x="685800" y="5930900"/>
            <a:ext cx="14859000" cy="698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6CA166-D251-BABE-72B7-E14C9F3C2A3C}"/>
              </a:ext>
            </a:extLst>
          </p:cNvPr>
          <p:cNvSpPr txBox="1"/>
          <p:nvPr/>
        </p:nvSpPr>
        <p:spPr>
          <a:xfrm>
            <a:off x="990600" y="6108700"/>
            <a:ext cx="533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>
                <a:solidFill>
                  <a:srgbClr val="102639"/>
                </a:solidFill>
                <a:latin typeface="Aptos" panose="020B0004020202020204" pitchFamily="34" charset="0"/>
              </a:rPr>
              <a:t>Отчёты и интеграция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47A2D7-184F-BB3C-0908-B7BCB233A2B1}"/>
              </a:ext>
            </a:extLst>
          </p:cNvPr>
          <p:cNvSpPr txBox="1"/>
          <p:nvPr/>
        </p:nvSpPr>
        <p:spPr>
          <a:xfrm>
            <a:off x="6858000" y="61087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 b="1">
                <a:solidFill>
                  <a:srgbClr val="16C6B7"/>
                </a:solidFill>
                <a:latin typeface="Aptos" panose="020B0004020202020204" pitchFamily="34" charset="0"/>
              </a:rPr>
              <a:t>Готово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2AFC7A-D0A7-4A22-A760-F9C57C084D89}"/>
              </a:ext>
            </a:extLst>
          </p:cNvPr>
          <p:cNvSpPr txBox="1"/>
          <p:nvPr/>
        </p:nvSpPr>
        <p:spPr>
          <a:xfrm>
            <a:off x="9169400" y="6108700"/>
            <a:ext cx="571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26778"/>
                </a:solidFill>
                <a:latin typeface="Aptos" panose="020B0004020202020204" pitchFamily="34" charset="0"/>
              </a:rPr>
              <a:t>JSON, CSV, HTML, PDF, ZIP </a:t>
            </a:r>
            <a:r>
              <a:rPr lang="ru-KZ" sz="1400">
                <a:solidFill>
                  <a:srgbClr val="526778"/>
                </a:solidFill>
                <a:latin typeface="Aptos" panose="020B0004020202020204" pitchFamily="34" charset="0"/>
              </a:rPr>
              <a:t>и </a:t>
            </a:r>
            <a:r>
              <a:rPr lang="en-US" sz="1400">
                <a:solidFill>
                  <a:srgbClr val="526778"/>
                </a:solidFill>
                <a:latin typeface="Aptos" panose="020B0004020202020204" pitchFamily="34" charset="0"/>
              </a:rPr>
              <a:t>FastAPI</a:t>
            </a:r>
            <a:endParaRPr lang="ru-KZ" sz="14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E317A2-6B7A-0F09-CBDB-6E2B2F49A257}"/>
              </a:ext>
            </a:extLst>
          </p:cNvPr>
          <p:cNvSpPr/>
          <p:nvPr/>
        </p:nvSpPr>
        <p:spPr>
          <a:xfrm>
            <a:off x="685800" y="6667500"/>
            <a:ext cx="14859000" cy="698500"/>
          </a:xfrm>
          <a:prstGeom prst="rect">
            <a:avLst/>
          </a:prstGeom>
          <a:solidFill>
            <a:srgbClr val="EFF4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D5DED7-8174-A77D-15DD-49AF07CE4AFF}"/>
              </a:ext>
            </a:extLst>
          </p:cNvPr>
          <p:cNvSpPr txBox="1"/>
          <p:nvPr/>
        </p:nvSpPr>
        <p:spPr>
          <a:xfrm>
            <a:off x="990600" y="6845300"/>
            <a:ext cx="533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102639"/>
                </a:solidFill>
                <a:latin typeface="Aptos" panose="020B0004020202020204" pitchFamily="34" charset="0"/>
              </a:rPr>
              <a:t>Google Earth Engine</a:t>
            </a:r>
            <a:endParaRPr lang="ru-KZ" sz="1500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2FB003-281A-4B6F-B080-66B7910BB883}"/>
              </a:ext>
            </a:extLst>
          </p:cNvPr>
          <p:cNvSpPr txBox="1"/>
          <p:nvPr/>
        </p:nvSpPr>
        <p:spPr>
          <a:xfrm>
            <a:off x="6858000" y="68453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500" b="1">
                <a:solidFill>
                  <a:srgbClr val="FF965A"/>
                </a:solidFill>
                <a:latin typeface="Aptos" panose="020B0004020202020204" pitchFamily="34" charset="0"/>
              </a:rPr>
              <a:t>Частично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D4E28D-FB9D-C1A9-EF4B-7FCA28D35F12}"/>
              </a:ext>
            </a:extLst>
          </p:cNvPr>
          <p:cNvSpPr txBox="1"/>
          <p:nvPr/>
        </p:nvSpPr>
        <p:spPr>
          <a:xfrm>
            <a:off x="9169400" y="6845300"/>
            <a:ext cx="571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26778"/>
                </a:solidFill>
                <a:latin typeface="Aptos" panose="020B0004020202020204" pitchFamily="34" charset="0"/>
              </a:rPr>
              <a:t>metadata adapter; </a:t>
            </a:r>
            <a:r>
              <a:rPr lang="ru-KZ" sz="1400">
                <a:solidFill>
                  <a:srgbClr val="526778"/>
                </a:solidFill>
                <a:latin typeface="Aptos" panose="020B0004020202020204" pitchFamily="34" charset="0"/>
              </a:rPr>
              <a:t>нужен </a:t>
            </a:r>
            <a:r>
              <a:rPr lang="en-US" sz="1400">
                <a:solidFill>
                  <a:srgbClr val="526778"/>
                </a:solidFill>
                <a:latin typeface="Aptos" panose="020B0004020202020204" pitchFamily="34" charset="0"/>
              </a:rPr>
              <a:t>Cloud Project </a:t>
            </a:r>
            <a:r>
              <a:rPr lang="ru-KZ" sz="1400">
                <a:solidFill>
                  <a:srgbClr val="526778"/>
                </a:solidFill>
                <a:latin typeface="Aptos" panose="020B0004020202020204" pitchFamily="34" charset="0"/>
              </a:rPr>
              <a:t>и </a:t>
            </a:r>
            <a:r>
              <a:rPr lang="en-US" sz="1400">
                <a:solidFill>
                  <a:srgbClr val="526778"/>
                </a:solidFill>
                <a:latin typeface="Aptos" panose="020B0004020202020204" pitchFamily="34" charset="0"/>
              </a:rPr>
              <a:t>auth</a:t>
            </a:r>
            <a:endParaRPr lang="ru-KZ" sz="14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164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6AF517-C1A3-BF57-FB5C-23BB0107F1D5}"/>
              </a:ext>
            </a:extLst>
          </p:cNvPr>
          <p:cNvSpPr txBox="1"/>
          <p:nvPr/>
        </p:nvSpPr>
        <p:spPr>
          <a:xfrm>
            <a:off x="685800" y="381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6C6B7"/>
                </a:solidFill>
                <a:latin typeface="Aptos" panose="020B0004020202020204" pitchFamily="34" charset="0"/>
              </a:rPr>
              <a:t>GEOWATCH AI</a:t>
            </a:r>
            <a:endParaRPr lang="ru-KZ" sz="15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E17A4-3F65-564E-DAF2-5B6F708E0FB0}"/>
              </a:ext>
            </a:extLst>
          </p:cNvPr>
          <p:cNvSpPr txBox="1"/>
          <p:nvPr/>
        </p:nvSpPr>
        <p:spPr>
          <a:xfrm>
            <a:off x="685800" y="1041400"/>
            <a:ext cx="1397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102639"/>
                </a:solidFill>
                <a:latin typeface="Aptos" panose="020B0004020202020204" pitchFamily="34" charset="0"/>
              </a:rPr>
              <a:t>Сценарий live demo: 4–5 минут</a:t>
            </a:r>
            <a:endParaRPr lang="ru-KZ" sz="2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31291-E808-0748-EC0E-E96AB0CC7381}"/>
              </a:ext>
            </a:extLst>
          </p:cNvPr>
          <p:cNvSpPr txBox="1"/>
          <p:nvPr/>
        </p:nvSpPr>
        <p:spPr>
          <a:xfrm>
            <a:off x="14909800" y="406400"/>
            <a:ext cx="660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300" b="1">
                <a:solidFill>
                  <a:srgbClr val="526778"/>
                </a:solidFill>
                <a:latin typeface="Aptos" panose="020B0004020202020204" pitchFamily="34" charset="0"/>
              </a:rPr>
              <a:t>09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30A39-E3CB-DC42-F405-1749EA41ADD7}"/>
              </a:ext>
            </a:extLst>
          </p:cNvPr>
          <p:cNvCxnSpPr/>
          <p:nvPr/>
        </p:nvCxnSpPr>
        <p:spPr>
          <a:xfrm>
            <a:off x="685800" y="1841500"/>
            <a:ext cx="14871700" cy="0"/>
          </a:xfrm>
          <a:prstGeom prst="line">
            <a:avLst/>
          </a:prstGeom>
          <a:ln w="1270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FFD002-E1F4-84BF-20E9-FC0E43415AEF}"/>
              </a:ext>
            </a:extLst>
          </p:cNvPr>
          <p:cNvSpPr/>
          <p:nvPr/>
        </p:nvSpPr>
        <p:spPr>
          <a:xfrm>
            <a:off x="889000" y="2387600"/>
            <a:ext cx="889000" cy="889000"/>
          </a:xfrm>
          <a:prstGeom prst="roundRect">
            <a:avLst/>
          </a:prstGeom>
          <a:solidFill>
            <a:srgbClr val="315B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2BB33-0A9B-332B-9366-F95D1633E6A9}"/>
              </a:ext>
            </a:extLst>
          </p:cNvPr>
          <p:cNvSpPr txBox="1"/>
          <p:nvPr/>
        </p:nvSpPr>
        <p:spPr>
          <a:xfrm>
            <a:off x="1104900" y="2667000"/>
            <a:ext cx="482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7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02912-20A0-7898-DB49-ACBA5DA7410C}"/>
              </a:ext>
            </a:extLst>
          </p:cNvPr>
          <p:cNvSpPr txBox="1"/>
          <p:nvPr/>
        </p:nvSpPr>
        <p:spPr>
          <a:xfrm>
            <a:off x="2247900" y="2451100"/>
            <a:ext cx="330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100" b="1">
                <a:solidFill>
                  <a:srgbClr val="102639"/>
                </a:solidFill>
                <a:latin typeface="Aptos" panose="020B0004020202020204" pitchFamily="34" charset="0"/>
              </a:rPr>
              <a:t>Контекст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7B4D50-030A-6731-6130-FB034C741F17}"/>
              </a:ext>
            </a:extLst>
          </p:cNvPr>
          <p:cNvSpPr txBox="1"/>
          <p:nvPr/>
        </p:nvSpPr>
        <p:spPr>
          <a:xfrm>
            <a:off x="2247900" y="2908300"/>
            <a:ext cx="914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700">
                <a:solidFill>
                  <a:srgbClr val="526778"/>
                </a:solidFill>
                <a:latin typeface="Aptos" panose="020B0004020202020204" pitchFamily="34" charset="0"/>
              </a:rPr>
              <a:t>Показываем задачу аналитика и правило human review</a:t>
            </a:r>
            <a:endParaRPr lang="ru-KZ" sz="17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4596D1-FA37-50EE-DE3E-A36A02FD80ED}"/>
              </a:ext>
            </a:extLst>
          </p:cNvPr>
          <p:cNvSpPr/>
          <p:nvPr/>
        </p:nvSpPr>
        <p:spPr>
          <a:xfrm>
            <a:off x="889000" y="3695700"/>
            <a:ext cx="889000" cy="889000"/>
          </a:xfrm>
          <a:prstGeom prst="roundRect">
            <a:avLst/>
          </a:prstGeom>
          <a:solidFill>
            <a:srgbClr val="16C6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27A72-A174-A207-D430-A27F217ABA9B}"/>
              </a:ext>
            </a:extLst>
          </p:cNvPr>
          <p:cNvSpPr txBox="1"/>
          <p:nvPr/>
        </p:nvSpPr>
        <p:spPr>
          <a:xfrm>
            <a:off x="1104900" y="3975100"/>
            <a:ext cx="482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7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7FF86-A469-92A6-5042-1BE0321A4101}"/>
              </a:ext>
            </a:extLst>
          </p:cNvPr>
          <p:cNvSpPr txBox="1"/>
          <p:nvPr/>
        </p:nvSpPr>
        <p:spPr>
          <a:xfrm>
            <a:off x="2247900" y="3759200"/>
            <a:ext cx="330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02639"/>
                </a:solidFill>
                <a:latin typeface="Aptos" panose="020B0004020202020204" pitchFamily="34" charset="0"/>
              </a:rPr>
              <a:t>Temporal demo</a:t>
            </a:r>
            <a:endParaRPr lang="ru-KZ" sz="21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C6360-060E-4230-71B5-FD831D90FC79}"/>
              </a:ext>
            </a:extLst>
          </p:cNvPr>
          <p:cNvSpPr txBox="1"/>
          <p:nvPr/>
        </p:nvSpPr>
        <p:spPr>
          <a:xfrm>
            <a:off x="2247900" y="4216400"/>
            <a:ext cx="914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700">
                <a:solidFill>
                  <a:srgbClr val="526778"/>
                </a:solidFill>
                <a:latin typeface="Aptos" panose="020B0004020202020204" pitchFamily="34" charset="0"/>
              </a:rPr>
              <a:t>Открываем пару «до / после», выбираем событие и evidence</a:t>
            </a:r>
            <a:endParaRPr lang="ru-KZ" sz="17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B540A1-CC59-BA6C-5094-37568B03100A}"/>
              </a:ext>
            </a:extLst>
          </p:cNvPr>
          <p:cNvSpPr/>
          <p:nvPr/>
        </p:nvSpPr>
        <p:spPr>
          <a:xfrm>
            <a:off x="889000" y="5003800"/>
            <a:ext cx="889000" cy="889000"/>
          </a:xfrm>
          <a:prstGeom prst="roundRect">
            <a:avLst/>
          </a:prstGeom>
          <a:solidFill>
            <a:srgbClr val="315B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FA891B-015E-F542-B398-F6C2795E1F44}"/>
              </a:ext>
            </a:extLst>
          </p:cNvPr>
          <p:cNvSpPr txBox="1"/>
          <p:nvPr/>
        </p:nvSpPr>
        <p:spPr>
          <a:xfrm>
            <a:off x="1104900" y="5283200"/>
            <a:ext cx="482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7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57943-20C6-A4B9-64DF-292DF41E68AA}"/>
              </a:ext>
            </a:extLst>
          </p:cNvPr>
          <p:cNvSpPr txBox="1"/>
          <p:nvPr/>
        </p:nvSpPr>
        <p:spPr>
          <a:xfrm>
            <a:off x="2247900" y="5067300"/>
            <a:ext cx="330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02639"/>
                </a:solidFill>
                <a:latin typeface="Aptos" panose="020B0004020202020204" pitchFamily="34" charset="0"/>
              </a:rPr>
              <a:t>Review → case</a:t>
            </a:r>
            <a:endParaRPr lang="ru-KZ" sz="21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5AA493-39B5-C264-748F-AA5D7A928A08}"/>
              </a:ext>
            </a:extLst>
          </p:cNvPr>
          <p:cNvSpPr txBox="1"/>
          <p:nvPr/>
        </p:nvSpPr>
        <p:spPr>
          <a:xfrm>
            <a:off x="2247900" y="5524500"/>
            <a:ext cx="914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526778"/>
                </a:solidFill>
                <a:latin typeface="Aptos" panose="020B0004020202020204" pitchFamily="34" charset="0"/>
              </a:rPr>
              <a:t>Сохраняем confirmed / rejected / needs_review, создаём кейс</a:t>
            </a:r>
            <a:endParaRPr lang="ru-KZ" sz="17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842419E-04CD-70CA-5B8C-95691101E9CA}"/>
              </a:ext>
            </a:extLst>
          </p:cNvPr>
          <p:cNvSpPr/>
          <p:nvPr/>
        </p:nvSpPr>
        <p:spPr>
          <a:xfrm>
            <a:off x="889000" y="6311900"/>
            <a:ext cx="889000" cy="889000"/>
          </a:xfrm>
          <a:prstGeom prst="roundRect">
            <a:avLst/>
          </a:prstGeom>
          <a:solidFill>
            <a:srgbClr val="16C6B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284FAF-2BD7-D0E3-0BAE-97877BABE072}"/>
              </a:ext>
            </a:extLst>
          </p:cNvPr>
          <p:cNvSpPr txBox="1"/>
          <p:nvPr/>
        </p:nvSpPr>
        <p:spPr>
          <a:xfrm>
            <a:off x="1104900" y="6591300"/>
            <a:ext cx="482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7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C07CB9-814F-D0ED-2431-2806A8BF7C84}"/>
              </a:ext>
            </a:extLst>
          </p:cNvPr>
          <p:cNvSpPr txBox="1"/>
          <p:nvPr/>
        </p:nvSpPr>
        <p:spPr>
          <a:xfrm>
            <a:off x="2247900" y="6375400"/>
            <a:ext cx="330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102639"/>
                </a:solidFill>
                <a:latin typeface="Aptos" panose="020B0004020202020204" pitchFamily="34" charset="0"/>
              </a:rPr>
              <a:t>Export</a:t>
            </a:r>
            <a:endParaRPr lang="ru-KZ" sz="21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C6D94A-770D-8C63-FCDE-B3C5DC4255C4}"/>
              </a:ext>
            </a:extLst>
          </p:cNvPr>
          <p:cNvSpPr txBox="1"/>
          <p:nvPr/>
        </p:nvSpPr>
        <p:spPr>
          <a:xfrm>
            <a:off x="2247900" y="6832600"/>
            <a:ext cx="914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700">
                <a:solidFill>
                  <a:srgbClr val="526778"/>
                </a:solidFill>
                <a:latin typeface="Aptos" panose="020B0004020202020204" pitchFamily="34" charset="0"/>
              </a:rPr>
              <a:t>Скачиваем </a:t>
            </a:r>
            <a:r>
              <a:rPr lang="en-US" sz="1700">
                <a:solidFill>
                  <a:srgbClr val="526778"/>
                </a:solidFill>
                <a:latin typeface="Aptos" panose="020B0004020202020204" pitchFamily="34" charset="0"/>
              </a:rPr>
              <a:t>ZIP-</a:t>
            </a:r>
            <a:r>
              <a:rPr lang="ru-KZ" sz="1700">
                <a:solidFill>
                  <a:srgbClr val="526778"/>
                </a:solidFill>
                <a:latin typeface="Aptos" panose="020B0004020202020204" pitchFamily="34" charset="0"/>
              </a:rPr>
              <a:t>пакет: </a:t>
            </a:r>
            <a:r>
              <a:rPr lang="en-US" sz="1700">
                <a:solidFill>
                  <a:srgbClr val="526778"/>
                </a:solidFill>
                <a:latin typeface="Aptos" panose="020B0004020202020204" pitchFamily="34" charset="0"/>
              </a:rPr>
              <a:t>manifest, results, reviews, evidence</a:t>
            </a:r>
            <a:endParaRPr lang="ru-KZ" sz="17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F41C862-11A3-1F0B-0DF9-A54CE42C9AB6}"/>
              </a:ext>
            </a:extLst>
          </p:cNvPr>
          <p:cNvSpPr/>
          <p:nvPr/>
        </p:nvSpPr>
        <p:spPr>
          <a:xfrm>
            <a:off x="11772900" y="2590800"/>
            <a:ext cx="3073400" cy="4064000"/>
          </a:xfrm>
          <a:prstGeom prst="roundRect">
            <a:avLst/>
          </a:prstGeom>
          <a:solidFill>
            <a:srgbClr val="E2F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76B222-2A13-F496-99CA-48367E2995BE}"/>
              </a:ext>
            </a:extLst>
          </p:cNvPr>
          <p:cNvSpPr txBox="1"/>
          <p:nvPr/>
        </p:nvSpPr>
        <p:spPr>
          <a:xfrm>
            <a:off x="12128500" y="29845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000" b="1">
                <a:solidFill>
                  <a:srgbClr val="102639"/>
                </a:solidFill>
                <a:latin typeface="Aptos" panose="020B0004020202020204" pitchFamily="34" charset="0"/>
              </a:rPr>
              <a:t>Резервный режим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B64ABE-BE2A-AF8F-8361-4EBD7F0C7D8B}"/>
              </a:ext>
            </a:extLst>
          </p:cNvPr>
          <p:cNvSpPr txBox="1"/>
          <p:nvPr/>
        </p:nvSpPr>
        <p:spPr>
          <a:xfrm>
            <a:off x="12128500" y="3708400"/>
            <a:ext cx="2286000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>
                <a:solidFill>
                  <a:srgbClr val="526778"/>
                </a:solidFill>
                <a:latin typeface="Aptos" panose="020B0004020202020204" pitchFamily="34" charset="0"/>
              </a:rPr>
              <a:t>Если сеть, GPU или Earth Engine недоступны, показываем локальный demo-кейс. Модель не подменяет результат фиктивными detections.</a:t>
            </a:r>
            <a:endParaRPr lang="ru-KZ" sz="16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600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A1A512-173C-2D0E-5BDC-AD6D15D1DC04}"/>
              </a:ext>
            </a:extLst>
          </p:cNvPr>
          <p:cNvSpPr txBox="1"/>
          <p:nvPr/>
        </p:nvSpPr>
        <p:spPr>
          <a:xfrm>
            <a:off x="685800" y="381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6C6B7"/>
                </a:solidFill>
                <a:latin typeface="Aptos" panose="020B0004020202020204" pitchFamily="34" charset="0"/>
              </a:rPr>
              <a:t>GEOWATCH AI</a:t>
            </a:r>
            <a:endParaRPr lang="ru-KZ" sz="15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70D73-0BBC-8993-D6B4-F24BB431928E}"/>
              </a:ext>
            </a:extLst>
          </p:cNvPr>
          <p:cNvSpPr txBox="1"/>
          <p:nvPr/>
        </p:nvSpPr>
        <p:spPr>
          <a:xfrm>
            <a:off x="685800" y="1041400"/>
            <a:ext cx="1397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800" b="1">
                <a:solidFill>
                  <a:srgbClr val="102639"/>
                </a:solidFill>
                <a:latin typeface="Aptos" panose="020B0004020202020204" pitchFamily="34" charset="0"/>
              </a:rPr>
              <a:t>Команда и комплект для отправки</a:t>
            </a:r>
            <a:endParaRPr lang="ru-KZ" sz="2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9CAF5-347E-F92F-91CD-FD26D40AAE4F}"/>
              </a:ext>
            </a:extLst>
          </p:cNvPr>
          <p:cNvSpPr txBox="1"/>
          <p:nvPr/>
        </p:nvSpPr>
        <p:spPr>
          <a:xfrm>
            <a:off x="14909800" y="406400"/>
            <a:ext cx="660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300" b="1">
                <a:solidFill>
                  <a:srgbClr val="526778"/>
                </a:solidFill>
                <a:latin typeface="Aptos" panose="020B0004020202020204" pitchFamily="34" charset="0"/>
              </a:rPr>
              <a:t>10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9A2488-0BFB-B264-2D86-B3DC5D407789}"/>
              </a:ext>
            </a:extLst>
          </p:cNvPr>
          <p:cNvCxnSpPr/>
          <p:nvPr/>
        </p:nvCxnSpPr>
        <p:spPr>
          <a:xfrm>
            <a:off x="685800" y="1841500"/>
            <a:ext cx="14871700" cy="0"/>
          </a:xfrm>
          <a:prstGeom prst="line">
            <a:avLst/>
          </a:prstGeom>
          <a:ln w="1270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823EF0-5AD9-13E9-8A67-424682261DD2}"/>
              </a:ext>
            </a:extLst>
          </p:cNvPr>
          <p:cNvSpPr txBox="1"/>
          <p:nvPr/>
        </p:nvSpPr>
        <p:spPr>
          <a:xfrm>
            <a:off x="685800" y="2286000"/>
            <a:ext cx="13716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200" b="1">
                <a:solidFill>
                  <a:srgbClr val="102639"/>
                </a:solidFill>
                <a:latin typeface="Aptos" panose="020B0004020202020204" pitchFamily="34" charset="0"/>
              </a:rPr>
              <a:t>GeoWatch AI готов к показу как честный конкурсный MVP с локальным demo-flow и проверяемыми артефактами.</a:t>
            </a:r>
            <a:endParaRPr lang="ru-KZ" sz="22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315592-6874-36FE-E62F-1DCC82CC0735}"/>
              </a:ext>
            </a:extLst>
          </p:cNvPr>
          <p:cNvSpPr/>
          <p:nvPr/>
        </p:nvSpPr>
        <p:spPr>
          <a:xfrm>
            <a:off x="685800" y="3429000"/>
            <a:ext cx="4445000" cy="2590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BC359-30BE-374F-8330-E01C360E135F}"/>
              </a:ext>
            </a:extLst>
          </p:cNvPr>
          <p:cNvSpPr txBox="1"/>
          <p:nvPr/>
        </p:nvSpPr>
        <p:spPr>
          <a:xfrm>
            <a:off x="1041400" y="39370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300" b="1">
                <a:solidFill>
                  <a:srgbClr val="102639"/>
                </a:solidFill>
                <a:latin typeface="Aptos" panose="020B0004020202020204" pitchFamily="34" charset="0"/>
              </a:rPr>
              <a:t>Бижан Әлижан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C05812-EB92-D2B1-E54F-1D1BEB6EA907}"/>
              </a:ext>
            </a:extLst>
          </p:cNvPr>
          <p:cNvSpPr txBox="1"/>
          <p:nvPr/>
        </p:nvSpPr>
        <p:spPr>
          <a:xfrm>
            <a:off x="1041400" y="44831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16C6B7"/>
                </a:solidFill>
                <a:latin typeface="Aptos" panose="020B0004020202020204" pitchFamily="34" charset="0"/>
              </a:rPr>
              <a:t>Team Lead</a:t>
            </a:r>
            <a:endParaRPr lang="ru-KZ" sz="18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284202-0043-350C-5771-85D80F3575CC}"/>
              </a:ext>
            </a:extLst>
          </p:cNvPr>
          <p:cNvSpPr txBox="1"/>
          <p:nvPr/>
        </p:nvSpPr>
        <p:spPr>
          <a:xfrm>
            <a:off x="1041400" y="5067300"/>
            <a:ext cx="330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600">
                <a:solidFill>
                  <a:srgbClr val="526778"/>
                </a:solidFill>
                <a:latin typeface="Aptos" panose="020B0004020202020204" pitchFamily="34" charset="0"/>
              </a:rPr>
              <a:t>Продукт, </a:t>
            </a:r>
            <a:r>
              <a:rPr lang="en-US" sz="1600">
                <a:solidFill>
                  <a:srgbClr val="526778"/>
                </a:solidFill>
                <a:latin typeface="Aptos" panose="020B0004020202020204" pitchFamily="34" charset="0"/>
              </a:rPr>
              <a:t>ML-</a:t>
            </a:r>
            <a:r>
              <a:rPr lang="ru-KZ" sz="1600">
                <a:solidFill>
                  <a:srgbClr val="526778"/>
                </a:solidFill>
                <a:latin typeface="Aptos" panose="020B0004020202020204" pitchFamily="34" charset="0"/>
              </a:rPr>
              <a:t>пайплайн, интеграция, </a:t>
            </a:r>
            <a:r>
              <a:rPr lang="en-US" sz="1600">
                <a:solidFill>
                  <a:srgbClr val="526778"/>
                </a:solidFill>
                <a:latin typeface="Aptos" panose="020B0004020202020204" pitchFamily="34" charset="0"/>
              </a:rPr>
              <a:t>demo</a:t>
            </a:r>
            <a:endParaRPr lang="ru-KZ" sz="16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0F363E-184E-0CA5-9551-FBAEB3FAB7C6}"/>
              </a:ext>
            </a:extLst>
          </p:cNvPr>
          <p:cNvSpPr/>
          <p:nvPr/>
        </p:nvSpPr>
        <p:spPr>
          <a:xfrm>
            <a:off x="5905500" y="3429000"/>
            <a:ext cx="4445000" cy="2590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71254D-CB55-4646-4E01-EEBF555E1413}"/>
              </a:ext>
            </a:extLst>
          </p:cNvPr>
          <p:cNvSpPr txBox="1"/>
          <p:nvPr/>
        </p:nvSpPr>
        <p:spPr>
          <a:xfrm>
            <a:off x="6261100" y="39370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300" b="1">
                <a:solidFill>
                  <a:srgbClr val="102639"/>
                </a:solidFill>
                <a:latin typeface="Aptos" panose="020B0004020202020204" pitchFamily="34" charset="0"/>
              </a:rPr>
              <a:t>Қанымбек Марат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CD97F0-400F-00E5-4589-19C5C75B5F6F}"/>
              </a:ext>
            </a:extLst>
          </p:cNvPr>
          <p:cNvSpPr txBox="1"/>
          <p:nvPr/>
        </p:nvSpPr>
        <p:spPr>
          <a:xfrm>
            <a:off x="6261100" y="44831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315BFE"/>
                </a:solidFill>
                <a:latin typeface="Aptos" panose="020B0004020202020204" pitchFamily="34" charset="0"/>
              </a:rPr>
              <a:t>Backend</a:t>
            </a:r>
            <a:endParaRPr lang="ru-KZ" sz="1800" b="1">
              <a:solidFill>
                <a:srgbClr val="315BFE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3EC48-385C-E8C6-C91C-A958D3F4196C}"/>
              </a:ext>
            </a:extLst>
          </p:cNvPr>
          <p:cNvSpPr txBox="1"/>
          <p:nvPr/>
        </p:nvSpPr>
        <p:spPr>
          <a:xfrm>
            <a:off x="6261100" y="5067300"/>
            <a:ext cx="330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526778"/>
                </a:solidFill>
                <a:latin typeface="Aptos" panose="020B0004020202020204" pitchFamily="34" charset="0"/>
              </a:rPr>
              <a:t>API, persistence, review </a:t>
            </a:r>
            <a:r>
              <a:rPr lang="ru-KZ" sz="1600">
                <a:solidFill>
                  <a:srgbClr val="526778"/>
                </a:solidFill>
                <a:latin typeface="Aptos" panose="020B0004020202020204" pitchFamily="34" charset="0"/>
              </a:rPr>
              <a:t>и </a:t>
            </a:r>
            <a:r>
              <a:rPr lang="en-US" sz="1600">
                <a:solidFill>
                  <a:srgbClr val="526778"/>
                </a:solidFill>
                <a:latin typeface="Aptos" panose="020B0004020202020204" pitchFamily="34" charset="0"/>
              </a:rPr>
              <a:t>exports</a:t>
            </a:r>
            <a:endParaRPr lang="ru-KZ" sz="16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6A992D-1A06-00AD-B801-816DD7081F44}"/>
              </a:ext>
            </a:extLst>
          </p:cNvPr>
          <p:cNvSpPr/>
          <p:nvPr/>
        </p:nvSpPr>
        <p:spPr>
          <a:xfrm>
            <a:off x="11125200" y="3429000"/>
            <a:ext cx="4445000" cy="2590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3FBF11-04E9-105D-4573-01011A24637A}"/>
              </a:ext>
            </a:extLst>
          </p:cNvPr>
          <p:cNvSpPr txBox="1"/>
          <p:nvPr/>
        </p:nvSpPr>
        <p:spPr>
          <a:xfrm>
            <a:off x="11480800" y="39370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300" b="1">
                <a:solidFill>
                  <a:srgbClr val="102639"/>
                </a:solidFill>
                <a:latin typeface="Aptos" panose="020B0004020202020204" pitchFamily="34" charset="0"/>
              </a:rPr>
              <a:t>Құлтас Баубек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1102C1-AA31-DD99-E860-EC4159B1AAB8}"/>
              </a:ext>
            </a:extLst>
          </p:cNvPr>
          <p:cNvSpPr txBox="1"/>
          <p:nvPr/>
        </p:nvSpPr>
        <p:spPr>
          <a:xfrm>
            <a:off x="11480800" y="44831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FF965A"/>
                </a:solidFill>
                <a:latin typeface="Aptos" panose="020B0004020202020204" pitchFamily="34" charset="0"/>
              </a:rPr>
              <a:t>Frontend</a:t>
            </a:r>
            <a:endParaRPr lang="ru-KZ" sz="1800" b="1">
              <a:solidFill>
                <a:srgbClr val="FF965A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2B7944-D1F3-A8C0-BE14-F2EF1F2671CF}"/>
              </a:ext>
            </a:extLst>
          </p:cNvPr>
          <p:cNvSpPr txBox="1"/>
          <p:nvPr/>
        </p:nvSpPr>
        <p:spPr>
          <a:xfrm>
            <a:off x="11480800" y="5067300"/>
            <a:ext cx="3429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>
                <a:solidFill>
                  <a:srgbClr val="526778"/>
                </a:solidFill>
                <a:latin typeface="Aptos" panose="020B0004020202020204" pitchFamily="34" charset="0"/>
              </a:rPr>
              <a:t>Интерфейс, визуализация и пользовательский flow</a:t>
            </a:r>
            <a:endParaRPr lang="ru-KZ" sz="16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C28BBC0-443B-0534-A0A9-287158902240}"/>
              </a:ext>
            </a:extLst>
          </p:cNvPr>
          <p:cNvSpPr/>
          <p:nvPr/>
        </p:nvSpPr>
        <p:spPr>
          <a:xfrm>
            <a:off x="685800" y="6985000"/>
            <a:ext cx="14859000" cy="939800"/>
          </a:xfrm>
          <a:prstGeom prst="roundRect">
            <a:avLst/>
          </a:prstGeom>
          <a:solidFill>
            <a:srgbClr val="06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78677F-2420-0B62-0038-3FBC3E628B4C}"/>
              </a:ext>
            </a:extLst>
          </p:cNvPr>
          <p:cNvSpPr txBox="1"/>
          <p:nvPr/>
        </p:nvSpPr>
        <p:spPr>
          <a:xfrm>
            <a:off x="1041400" y="7302500"/>
            <a:ext cx="1346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700">
                <a:solidFill>
                  <a:srgbClr val="FFFFFF"/>
                </a:solidFill>
                <a:latin typeface="Aptos" panose="020B0004020202020204" pitchFamily="34" charset="0"/>
              </a:rPr>
              <a:t>Вложить в письмо: презентацию (.pptx / .pdf), исходники (.zip), 2 скриншота и ссылку на GitHub.</a:t>
            </a:r>
            <a:endParaRPr lang="ru-KZ" sz="17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323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2A3DBA-7CBD-8AAD-4806-C08752929F06}"/>
              </a:ext>
            </a:extLst>
          </p:cNvPr>
          <p:cNvSpPr txBox="1"/>
          <p:nvPr/>
        </p:nvSpPr>
        <p:spPr>
          <a:xfrm>
            <a:off x="685800" y="381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6C6B7"/>
                </a:solidFill>
                <a:latin typeface="Aptos" panose="020B0004020202020204" pitchFamily="34" charset="0"/>
              </a:rPr>
              <a:t>GEOWATCH AI</a:t>
            </a:r>
            <a:endParaRPr lang="ru-KZ" sz="15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1FF85-0ED6-58AB-86EF-D4740A1AA3AD}"/>
              </a:ext>
            </a:extLst>
          </p:cNvPr>
          <p:cNvSpPr txBox="1"/>
          <p:nvPr/>
        </p:nvSpPr>
        <p:spPr>
          <a:xfrm>
            <a:off x="685800" y="1041400"/>
            <a:ext cx="1397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800" b="1">
                <a:solidFill>
                  <a:srgbClr val="102639"/>
                </a:solidFill>
                <a:latin typeface="Aptos" panose="020B0004020202020204" pitchFamily="34" charset="0"/>
              </a:rPr>
              <a:t>Проверки и тестовое </a:t>
            </a:r>
            <a:r>
              <a:rPr lang="en-US" sz="2800" b="1">
                <a:solidFill>
                  <a:srgbClr val="102639"/>
                </a:solidFill>
                <a:latin typeface="Aptos" panose="020B0004020202020204" pitchFamily="34" charset="0"/>
              </a:rPr>
              <a:t>evidence</a:t>
            </a:r>
            <a:endParaRPr lang="ru-KZ" sz="28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EDC6E-BA3B-9FEE-9B1A-6D0549C7E37F}"/>
              </a:ext>
            </a:extLst>
          </p:cNvPr>
          <p:cNvSpPr txBox="1"/>
          <p:nvPr/>
        </p:nvSpPr>
        <p:spPr>
          <a:xfrm>
            <a:off x="14909800" y="406400"/>
            <a:ext cx="660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1300" b="1">
                <a:solidFill>
                  <a:srgbClr val="526778"/>
                </a:solidFill>
                <a:latin typeface="Aptos" panose="020B0004020202020204" pitchFamily="34" charset="0"/>
              </a:rPr>
              <a:t>11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6A0570-FDF8-5802-2442-EFC842DF653B}"/>
              </a:ext>
            </a:extLst>
          </p:cNvPr>
          <p:cNvCxnSpPr/>
          <p:nvPr/>
        </p:nvCxnSpPr>
        <p:spPr>
          <a:xfrm>
            <a:off x="685800" y="1841500"/>
            <a:ext cx="14871700" cy="0"/>
          </a:xfrm>
          <a:prstGeom prst="line">
            <a:avLst/>
          </a:prstGeom>
          <a:ln w="1270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87F121-47AA-3FEE-C6FC-621F1D83A138}"/>
              </a:ext>
            </a:extLst>
          </p:cNvPr>
          <p:cNvSpPr txBox="1"/>
          <p:nvPr/>
        </p:nvSpPr>
        <p:spPr>
          <a:xfrm>
            <a:off x="685800" y="2260600"/>
            <a:ext cx="13208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200" b="1">
                <a:solidFill>
                  <a:srgbClr val="102639"/>
                </a:solidFill>
                <a:latin typeface="Aptos" panose="020B0004020202020204" pitchFamily="34" charset="0"/>
              </a:rPr>
              <a:t>Тестовый контур покрывает критичные пользовательские сценарии и правила безопасной аналитики.</a:t>
            </a:r>
            <a:endParaRPr lang="ru-KZ" sz="22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EBE812-AC86-5E3A-5BD9-CD4969E4082D}"/>
              </a:ext>
            </a:extLst>
          </p:cNvPr>
          <p:cNvSpPr/>
          <p:nvPr/>
        </p:nvSpPr>
        <p:spPr>
          <a:xfrm>
            <a:off x="685800" y="3048000"/>
            <a:ext cx="6350000" cy="4394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A62B36-4425-7CFD-C088-4AEDA1B0F0C3}"/>
              </a:ext>
            </a:extLst>
          </p:cNvPr>
          <p:cNvSpPr txBox="1"/>
          <p:nvPr/>
        </p:nvSpPr>
        <p:spPr>
          <a:xfrm>
            <a:off x="1066800" y="3454400"/>
            <a:ext cx="406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KZ" sz="2100" b="1">
                <a:solidFill>
                  <a:srgbClr val="102639"/>
                </a:solidFill>
                <a:latin typeface="Aptos" panose="020B0004020202020204" pitchFamily="34" charset="0"/>
              </a:rPr>
              <a:t>Зафиксированная проверка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866054-9EA8-3E49-FD3D-15D41900FD60}"/>
              </a:ext>
            </a:extLst>
          </p:cNvPr>
          <p:cNvSpPr/>
          <p:nvPr/>
        </p:nvSpPr>
        <p:spPr>
          <a:xfrm>
            <a:off x="1066800" y="4089400"/>
            <a:ext cx="5562600" cy="2057400"/>
          </a:xfrm>
          <a:prstGeom prst="roundRect">
            <a:avLst/>
          </a:prstGeom>
          <a:solidFill>
            <a:srgbClr val="06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C7215-AE07-963F-F07C-1161ED8F7B6F}"/>
              </a:ext>
            </a:extLst>
          </p:cNvPr>
          <p:cNvSpPr txBox="1"/>
          <p:nvPr/>
        </p:nvSpPr>
        <p:spPr>
          <a:xfrm>
            <a:off x="1371600" y="4445000"/>
            <a:ext cx="4953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</a:rPr>
              <a:t>PS&gt; pytest -q
........................................
........................................
95 passed, 2 warnings</a:t>
            </a:r>
            <a:endParaRPr lang="ru-KZ" sz="16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622893-8C27-419A-BEA7-9454553B5306}"/>
              </a:ext>
            </a:extLst>
          </p:cNvPr>
          <p:cNvSpPr txBox="1"/>
          <p:nvPr/>
        </p:nvSpPr>
        <p:spPr>
          <a:xfrm>
            <a:off x="1066800" y="6489700"/>
            <a:ext cx="5232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400">
                <a:solidFill>
                  <a:srgbClr val="526778"/>
                </a:solidFill>
                <a:latin typeface="Aptos" panose="020B0004020202020204" pitchFamily="34" charset="0"/>
              </a:rPr>
              <a:t>Это зафиксированный локальный прогон из docs/submission_readiness.md; не новый запуск на машине Demo Day.</a:t>
            </a:r>
            <a:endParaRPr lang="ru-KZ" sz="14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4C04FD-F8E8-F565-235F-12A88ED22AEB}"/>
              </a:ext>
            </a:extLst>
          </p:cNvPr>
          <p:cNvSpPr/>
          <p:nvPr/>
        </p:nvSpPr>
        <p:spPr>
          <a:xfrm>
            <a:off x="7747000" y="3048000"/>
            <a:ext cx="7823200" cy="4394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rgbClr val="CAD4E2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FEF510-3D30-CEF3-7F22-E15C1F612935}"/>
              </a:ext>
            </a:extLst>
          </p:cNvPr>
          <p:cNvSpPr txBox="1"/>
          <p:nvPr/>
        </p:nvSpPr>
        <p:spPr>
          <a:xfrm>
            <a:off x="8128000" y="3454400"/>
            <a:ext cx="596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100" b="1">
                <a:solidFill>
                  <a:srgbClr val="102639"/>
                </a:solidFill>
                <a:latin typeface="Aptos" panose="020B0004020202020204" pitchFamily="34" charset="0"/>
              </a:rPr>
              <a:t>Что покрывают реальные модули tests/</a:t>
            </a:r>
            <a:endParaRPr lang="ru-KZ" sz="2100" b="1">
              <a:solidFill>
                <a:srgbClr val="102639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F4EC53-D52D-E1D5-D583-603A6AF471E3}"/>
              </a:ext>
            </a:extLst>
          </p:cNvPr>
          <p:cNvSpPr txBox="1"/>
          <p:nvPr/>
        </p:nvSpPr>
        <p:spPr>
          <a:xfrm>
            <a:off x="8128000" y="4064000"/>
            <a:ext cx="6604000" cy="18466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API </a:t>
            </a:r>
            <a:r>
              <a:rPr lang="ru-KZ" sz="1500">
                <a:solidFill>
                  <a:srgbClr val="526778"/>
                </a:solidFill>
                <a:latin typeface="Aptos" panose="020B0004020202020204" pitchFamily="34" charset="0"/>
              </a:rPr>
              <a:t>и пользовательский </a:t>
            </a:r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smoke-flow
  test_api_smoke.py, test_image_store.py, test_job_queue.py
Temporal-</a:t>
            </a:r>
            <a:r>
              <a:rPr lang="ru-KZ" sz="1500">
                <a:solidFill>
                  <a:srgbClr val="526778"/>
                </a:solidFill>
                <a:latin typeface="Aptos" panose="020B0004020202020204" pitchFamily="34" charset="0"/>
              </a:rPr>
              <a:t>логика и безопасность пары
  </a:t>
            </a:r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test_temporal_ui.py, test_pair_validation.py, test_change_detection.py
Review, </a:t>
            </a:r>
            <a:r>
              <a:rPr lang="ru-KZ" sz="1500">
                <a:solidFill>
                  <a:srgbClr val="526778"/>
                </a:solidFill>
                <a:latin typeface="Aptos" panose="020B0004020202020204" pitchFamily="34" charset="0"/>
              </a:rPr>
              <a:t>кейсы и выгрузки
  </a:t>
            </a:r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test_review.py, test_cases.py, test_case_export.py
</a:t>
            </a:r>
            <a:r>
              <a:rPr lang="ru-KZ" sz="1500">
                <a:solidFill>
                  <a:srgbClr val="526778"/>
                </a:solidFill>
                <a:latin typeface="Aptos" panose="020B0004020202020204" pitchFamily="34" charset="0"/>
              </a:rPr>
              <a:t>Модель, </a:t>
            </a:r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evidence </a:t>
            </a:r>
            <a:r>
              <a:rPr lang="ru-KZ" sz="1500">
                <a:solidFill>
                  <a:srgbClr val="526778"/>
                </a:solidFill>
                <a:latin typeface="Aptos" panose="020B0004020202020204" pitchFamily="34" charset="0"/>
              </a:rPr>
              <a:t>и </a:t>
            </a:r>
            <a:r>
              <a:rPr lang="en-US" sz="1500">
                <a:solidFill>
                  <a:srgbClr val="526778"/>
                </a:solidFill>
                <a:latin typeface="Aptos" panose="020B0004020202020204" pitchFamily="34" charset="0"/>
              </a:rPr>
              <a:t>quality gates
  test_model_audit.py, test_model_evidence.py, test_image_quality.py</a:t>
            </a:r>
            <a:endParaRPr lang="ru-KZ" sz="1500">
              <a:solidFill>
                <a:srgbClr val="526778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F38E3-E322-7C89-6F35-E1C3CD3D1360}"/>
              </a:ext>
            </a:extLst>
          </p:cNvPr>
          <p:cNvSpPr txBox="1"/>
          <p:nvPr/>
        </p:nvSpPr>
        <p:spPr>
          <a:xfrm>
            <a:off x="685800" y="8001000"/>
            <a:ext cx="1409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b="1">
                <a:solidFill>
                  <a:srgbClr val="16C6B7"/>
                </a:solidFill>
                <a:latin typeface="Aptos" panose="020B0004020202020204" pitchFamily="34" charset="0"/>
              </a:rPr>
              <a:t>Повторный запуск перед показом: python -m pytest -q  •  результат прикладывается к комплекту как актуальный лог.</a:t>
            </a:r>
            <a:endParaRPr lang="ru-KZ" sz="1600" b="1">
              <a:solidFill>
                <a:srgbClr val="16C6B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35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</Words>
  <Application>Microsoft Office PowerPoint</Application>
  <PresentationFormat>Custom</PresentationFormat>
  <Paragraphs>141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Bizhan, Ali</dc:creator>
  <cp:lastModifiedBy>Bizhan, Ali</cp:lastModifiedBy>
  <cp:revision>1</cp:revision>
  <dcterms:created xsi:type="dcterms:W3CDTF">2026-09-10T19:16:42Z</dcterms:created>
  <dcterms:modified xsi:type="dcterms:W3CDTF">2026-09-10T19:16:42Z</dcterms:modified>
</cp:coreProperties>
</file>