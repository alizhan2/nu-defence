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6256000" cy="9144000"/>
  <p:notesSz cx="6858000" cy="9144000"/>
  <p:defaultTextStyle>
    <a:defPPr>
      <a:defRPr lang="ru-KZ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102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CA415-D356-AA6B-BDBB-205316B29A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0" y="1496483"/>
            <a:ext cx="121920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9A81B-8DB6-1FD5-99F7-1FCBA3AA89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2000" y="4802716"/>
            <a:ext cx="12192000" cy="2207684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ru-K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B6FD1C-719A-CB92-B165-3D7539FFF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F0D33-329E-D376-0E83-80BF116DD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189BF-2BC2-0B9C-DC44-4E8C46030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582202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BE46A-77F9-B27A-A567-EAAF5A4E8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F087E-C151-4B8A-9ED4-39624308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K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DD9F8-9EBD-118C-7758-0A0922B65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F4E3D-EB3C-E66B-E615-7EB5B3677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35B08-AE23-9316-6F7D-F7DFFC903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401812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B9EE4-FF77-9892-29CF-03BDA1424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9134" y="2279654"/>
            <a:ext cx="14020800" cy="380365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AE221-704A-C877-A111-4D9D4E7B2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9134" y="6119285"/>
            <a:ext cx="14020800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67890-F3EF-92AD-2A16-18088EA59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BDAB1-64F0-DDC4-26C2-B501C02C7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240BDE-D7E0-A2C5-8A4B-177E4838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886153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1CEB0-EA1F-5249-98E4-742D9223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6F5EC-90B4-9380-901E-7989B15A13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7600" y="2434167"/>
            <a:ext cx="6908800" cy="58017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K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9AF6A6-5DFA-7F06-D523-7E3D328B5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229600" y="2434167"/>
            <a:ext cx="6908800" cy="58017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K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9F2E2A-1199-A48C-5144-2B9AAF770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298155-E08E-80C5-A4E4-1EC72293A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0AB47-5368-0C2F-1F0D-B2D6C130A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118490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1CE9E-5A3E-88C4-6A1B-3D3092C14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7" y="486834"/>
            <a:ext cx="140208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0F13D-3065-DB74-960B-1F64AAE0D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9720" y="2241550"/>
            <a:ext cx="6877049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C0F23-AF08-209E-7DAF-DED9B12C78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9720" y="3340102"/>
            <a:ext cx="6877049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K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4A5630-8B85-B137-DEF5-0D48487C20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29602" y="2241550"/>
            <a:ext cx="6910917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450F9B-BFE2-7C1E-D866-E334E0DBB6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29602" y="3340102"/>
            <a:ext cx="691091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K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75004D-8058-7E1D-D898-0F7B0C76A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B01618-A73C-4B56-2FB7-8ACBC4FD5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2E5AF9-6FF4-F323-A8FB-C6B9FCFA4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046962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1628A-9400-9E6A-5A81-9F7EFF001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E1A70A-083A-7378-E778-ED430998B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62819C-65B3-D024-E623-3E3821477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D7E6-8D94-D699-CA89-616FC903D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767812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FEDA82-6CDD-CC5B-3E5E-DB0687BFC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527A15-0841-59A2-84A8-26CACCD35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404C5-FF6F-0B5F-C872-C054C382F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942782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3B1B2-8FC7-D016-9EAD-9120826CF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E324A-A756-5AA8-DA4A-DC9355EE9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917" y="1316570"/>
            <a:ext cx="8229600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K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D8E004-01BC-379F-7D95-8201225C56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8" y="2743203"/>
            <a:ext cx="5242983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FF3DF-55F8-96CE-0BA9-8E51BBDB5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C6A6E-DB39-D413-BB0B-DC7BFA094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4788E-FECE-0861-D58E-D5B678B9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585795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CF3F8-DE26-53D5-F9CD-4CD8A4407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9718" y="609600"/>
            <a:ext cx="5242983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089C22-7C4F-9CB7-2D65-428D13A791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910917" y="1316570"/>
            <a:ext cx="8229600" cy="6498167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ru-K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49DA4C-A813-444A-BF4C-DF69F75F7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9718" y="2743203"/>
            <a:ext cx="5242983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F2318-5467-B915-C836-99770E746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82F2DA-2958-EF7C-EC11-381BB5579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9D4D97-B8B8-86A4-44E7-9539DC2BF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2092694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61FC7-57F4-5069-053E-E2ABB9C72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81EC9E-E5B1-F3B9-C281-BBAF4A873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K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9F5D8-DB70-B9EF-9558-008D44043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84E70-A3E5-6733-CACA-8E5E88B8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491882-761E-7C0E-AF86-6BFC3C971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3466164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1828C8-BDF5-938C-03D3-00B500913B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1633201" y="486837"/>
            <a:ext cx="3505200" cy="774911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584751-75C7-8DC3-5370-5D256862C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17601" y="486837"/>
            <a:ext cx="10312400" cy="774911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K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EB2DFD-EBEB-5E06-7CBD-347E7C65F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42087-4907-0FF5-29AA-7410DF509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K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F07E3-F3C5-AFC3-6E2E-B7D85EE40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505864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A225A8-DD6D-D9E0-6C57-DDF765A8A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K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3FC0BD-69F1-F55B-3F85-2AF86AC9D6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7600" y="2434167"/>
            <a:ext cx="14020800" cy="58017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K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F25DB5-00CC-E1B2-F5E0-ED91D13C2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17600" y="8475134"/>
            <a:ext cx="3657600" cy="4868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051D6F-EB83-4791-9603-9BFA514B43E5}" type="datetimeFigureOut">
              <a:rPr lang="ru-KZ" smtClean="0"/>
              <a:t>11.09.2026</a:t>
            </a:fld>
            <a:endParaRPr lang="ru-K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667AEA-0814-BAB0-7217-49A07B7DE5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84800" y="8475134"/>
            <a:ext cx="5486400" cy="4868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K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8D4B4-BAB1-A4BE-37D6-45097909FF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0800" y="8475134"/>
            <a:ext cx="3657600" cy="4868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271898-F9C6-488E-B99E-0EA1E1C1DD53}" type="slidenum">
              <a:rPr lang="ru-KZ" smtClean="0"/>
              <a:t>‹#›</a:t>
            </a:fld>
            <a:endParaRPr lang="ru-KZ"/>
          </a:p>
        </p:txBody>
      </p:sp>
    </p:spTree>
    <p:extLst>
      <p:ext uri="{BB962C8B-B14F-4D97-AF65-F5344CB8AC3E}">
        <p14:creationId xmlns:p14="http://schemas.microsoft.com/office/powerpoint/2010/main" val="1696980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KZ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530C7E-2E96-C78E-B76D-2A8B056600F1}"/>
              </a:ext>
            </a:extLst>
          </p:cNvPr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6182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C9FBE9-6C15-5EB4-9CB3-382291FF3F3C}"/>
              </a:ext>
            </a:extLst>
          </p:cNvPr>
          <p:cNvSpPr/>
          <p:nvPr/>
        </p:nvSpPr>
        <p:spPr>
          <a:xfrm>
            <a:off x="9652000" y="0"/>
            <a:ext cx="6604000" cy="9144000"/>
          </a:xfrm>
          <a:prstGeom prst="rect">
            <a:avLst/>
          </a:prstGeom>
          <a:solidFill>
            <a:srgbClr val="0931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0347D2A-5B6F-7C4D-C0D8-CCFA549B8E94}"/>
              </a:ext>
            </a:extLst>
          </p:cNvPr>
          <p:cNvSpPr/>
          <p:nvPr/>
        </p:nvSpPr>
        <p:spPr>
          <a:xfrm>
            <a:off x="10452100" y="1549400"/>
            <a:ext cx="3860800" cy="3860800"/>
          </a:xfrm>
          <a:prstGeom prst="roundRect">
            <a:avLst/>
          </a:prstGeom>
          <a:solidFill>
            <a:srgbClr val="16C6B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66ADABF-9DD7-7CF4-85FD-EF30C81E27DB}"/>
              </a:ext>
            </a:extLst>
          </p:cNvPr>
          <p:cNvSpPr/>
          <p:nvPr/>
        </p:nvSpPr>
        <p:spPr>
          <a:xfrm>
            <a:off x="10947400" y="2044700"/>
            <a:ext cx="2870200" cy="2870200"/>
          </a:xfrm>
          <a:prstGeom prst="roundRect">
            <a:avLst/>
          </a:prstGeom>
          <a:solidFill>
            <a:srgbClr val="06182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9D3591-255D-1D8E-FEB8-ED342635D838}"/>
              </a:ext>
            </a:extLst>
          </p:cNvPr>
          <p:cNvSpPr txBox="1"/>
          <p:nvPr/>
        </p:nvSpPr>
        <p:spPr>
          <a:xfrm>
            <a:off x="11493500" y="2374900"/>
            <a:ext cx="2032000" cy="15388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0000" b="1">
                <a:solidFill>
                  <a:srgbClr val="16C6B7"/>
                </a:solidFill>
                <a:latin typeface="Aptos" panose="020B0004020202020204" pitchFamily="34" charset="0"/>
              </a:rPr>
              <a:t>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485A16-8EAF-0897-0176-4CBA3AE5ABB2}"/>
              </a:ext>
            </a:extLst>
          </p:cNvPr>
          <p:cNvSpPr txBox="1"/>
          <p:nvPr/>
        </p:nvSpPr>
        <p:spPr>
          <a:xfrm>
            <a:off x="889000" y="1473200"/>
            <a:ext cx="8001000" cy="72327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4700" b="1">
                <a:solidFill>
                  <a:srgbClr val="FFFFFF"/>
                </a:solidFill>
                <a:latin typeface="Aptos" panose="020B0004020202020204" pitchFamily="34" charset="0"/>
              </a:rPr>
              <a:t>GeoWatch AI</a:t>
            </a:r>
            <a:endParaRPr lang="ru-KZ" sz="47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B3B8DF-4900-0B05-58EA-E037C944095D}"/>
              </a:ext>
            </a:extLst>
          </p:cNvPr>
          <p:cNvSpPr txBox="1"/>
          <p:nvPr/>
        </p:nvSpPr>
        <p:spPr>
          <a:xfrm>
            <a:off x="889000" y="2603500"/>
            <a:ext cx="7366000" cy="76944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2500">
                <a:solidFill>
                  <a:srgbClr val="CFE1E9"/>
                </a:solidFill>
                <a:latin typeface="Aptos" panose="020B0004020202020204" pitchFamily="34" charset="0"/>
              </a:rPr>
              <a:t>Проверяемая аналитика изменений на открытых космических снимках</a:t>
            </a:r>
            <a:endParaRPr lang="ru-KZ" sz="2500">
              <a:solidFill>
                <a:srgbClr val="CFE1E9"/>
              </a:solidFill>
              <a:latin typeface="Aptos" panose="020B00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3A1F15-7205-5438-33C6-600E32043D24}"/>
              </a:ext>
            </a:extLst>
          </p:cNvPr>
          <p:cNvSpPr txBox="1"/>
          <p:nvPr/>
        </p:nvSpPr>
        <p:spPr>
          <a:xfrm>
            <a:off x="889000" y="4025900"/>
            <a:ext cx="5842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 b="1">
                <a:solidFill>
                  <a:srgbClr val="16C6B7"/>
                </a:solidFill>
                <a:latin typeface="Aptos" panose="020B0004020202020204" pitchFamily="34" charset="0"/>
              </a:rPr>
              <a:t>NU STeP × Defence Tech Challenge</a:t>
            </a:r>
            <a:endParaRPr lang="ru-KZ" sz="17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B683B8-B5CD-C14A-FAE0-7E89B440E92F}"/>
              </a:ext>
            </a:extLst>
          </p:cNvPr>
          <p:cNvSpPr txBox="1"/>
          <p:nvPr/>
        </p:nvSpPr>
        <p:spPr>
          <a:xfrm>
            <a:off x="889000" y="5740400"/>
            <a:ext cx="59690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000">
                <a:solidFill>
                  <a:srgbClr val="FFFFFF"/>
                </a:solidFill>
                <a:latin typeface="Aptos" panose="020B0004020202020204" pitchFamily="34" charset="0"/>
              </a:rPr>
              <a:t>Бижан Әлижан  </a:t>
            </a:r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Team Lead
</a:t>
            </a:r>
            <a:r>
              <a:rPr lang="ru-KZ" sz="2000">
                <a:solidFill>
                  <a:srgbClr val="FFFFFF"/>
                </a:solidFill>
                <a:latin typeface="Aptos" panose="020B0004020202020204" pitchFamily="34" charset="0"/>
              </a:rPr>
              <a:t>Қанымбек Марат  </a:t>
            </a:r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Backend
</a:t>
            </a:r>
            <a:r>
              <a:rPr lang="ru-KZ" sz="2000">
                <a:solidFill>
                  <a:srgbClr val="FFFFFF"/>
                </a:solidFill>
                <a:latin typeface="Aptos" panose="020B0004020202020204" pitchFamily="34" charset="0"/>
              </a:rPr>
              <a:t>Құлтас Баубек  </a:t>
            </a:r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Frontend</a:t>
            </a:r>
            <a:endParaRPr lang="ru-KZ" sz="20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EEBA2F-90AC-8A79-CF0D-9E6614BC5FEF}"/>
              </a:ext>
            </a:extLst>
          </p:cNvPr>
          <p:cNvSpPr txBox="1"/>
          <p:nvPr/>
        </p:nvSpPr>
        <p:spPr>
          <a:xfrm>
            <a:off x="889000" y="8089900"/>
            <a:ext cx="393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400">
                <a:solidFill>
                  <a:srgbClr val="9CB9C4"/>
                </a:solidFill>
                <a:latin typeface="Aptos" panose="020B0004020202020204" pitchFamily="34" charset="0"/>
              </a:rPr>
              <a:t>Конкурсная презентация</a:t>
            </a:r>
          </a:p>
        </p:txBody>
      </p:sp>
    </p:spTree>
    <p:extLst>
      <p:ext uri="{BB962C8B-B14F-4D97-AF65-F5344CB8AC3E}">
        <p14:creationId xmlns:p14="http://schemas.microsoft.com/office/powerpoint/2010/main" val="2506089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E3CFAED-0C9F-FD25-7C55-8F1C6014B513}"/>
              </a:ext>
            </a:extLst>
          </p:cNvPr>
          <p:cNvSpPr txBox="1"/>
          <p:nvPr/>
        </p:nvSpPr>
        <p:spPr>
          <a:xfrm>
            <a:off x="685800" y="381000"/>
            <a:ext cx="254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6C6B7"/>
                </a:solidFill>
                <a:latin typeface="Aptos" panose="020B0004020202020204" pitchFamily="34" charset="0"/>
              </a:rPr>
              <a:t>GEOWATCH AI</a:t>
            </a:r>
            <a:endParaRPr lang="ru-KZ" sz="15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C793B4-6CD3-95D0-1650-6C24A55E2961}"/>
              </a:ext>
            </a:extLst>
          </p:cNvPr>
          <p:cNvSpPr txBox="1"/>
          <p:nvPr/>
        </p:nvSpPr>
        <p:spPr>
          <a:xfrm>
            <a:off x="685800" y="1041400"/>
            <a:ext cx="13970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800" b="1">
                <a:solidFill>
                  <a:srgbClr val="102639"/>
                </a:solidFill>
                <a:latin typeface="Aptos" panose="020B0004020202020204" pitchFamily="34" charset="0"/>
              </a:rPr>
              <a:t>Проблема и задача аналитика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22A20B-8661-8E15-3AF2-A67B561555ED}"/>
              </a:ext>
            </a:extLst>
          </p:cNvPr>
          <p:cNvSpPr txBox="1"/>
          <p:nvPr/>
        </p:nvSpPr>
        <p:spPr>
          <a:xfrm>
            <a:off x="14909800" y="406400"/>
            <a:ext cx="660400" cy="20774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300" b="1">
                <a:solidFill>
                  <a:srgbClr val="526778"/>
                </a:solidFill>
                <a:latin typeface="Aptos" panose="020B0004020202020204" pitchFamily="34" charset="0"/>
              </a:rPr>
              <a:t>02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91EDEF2-96C1-AC0D-8B83-7C4BB0AB0F9E}"/>
              </a:ext>
            </a:extLst>
          </p:cNvPr>
          <p:cNvCxnSpPr/>
          <p:nvPr/>
        </p:nvCxnSpPr>
        <p:spPr>
          <a:xfrm>
            <a:off x="685800" y="1841500"/>
            <a:ext cx="14871700" cy="0"/>
          </a:xfrm>
          <a:prstGeom prst="line">
            <a:avLst/>
          </a:prstGeom>
          <a:ln w="12700">
            <a:solidFill>
              <a:srgbClr val="DA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6A69736-7A8E-4205-C1C6-11B2E57D8E3C}"/>
              </a:ext>
            </a:extLst>
          </p:cNvPr>
          <p:cNvSpPr txBox="1"/>
          <p:nvPr/>
        </p:nvSpPr>
        <p:spPr>
          <a:xfrm>
            <a:off x="685800" y="2260600"/>
            <a:ext cx="1206500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2400" b="1">
                <a:solidFill>
                  <a:srgbClr val="102639"/>
                </a:solidFill>
                <a:latin typeface="Aptos" panose="020B0004020202020204" pitchFamily="34" charset="0"/>
              </a:rPr>
              <a:t>Сравнение снимков «до / после» вручную занимает время и не оставляет удобной истории решений.</a:t>
            </a:r>
            <a:endParaRPr lang="ru-KZ" sz="24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EA2FD67-EFD6-2CDF-2B7F-330FD3ED2DF7}"/>
              </a:ext>
            </a:extLst>
          </p:cNvPr>
          <p:cNvSpPr/>
          <p:nvPr/>
        </p:nvSpPr>
        <p:spPr>
          <a:xfrm>
            <a:off x="685800" y="3492500"/>
            <a:ext cx="4419600" cy="31496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2C3D5D-3C1F-9333-7EA8-8A2D8EE51A86}"/>
              </a:ext>
            </a:extLst>
          </p:cNvPr>
          <p:cNvSpPr txBox="1"/>
          <p:nvPr/>
        </p:nvSpPr>
        <p:spPr>
          <a:xfrm>
            <a:off x="1041400" y="3835400"/>
            <a:ext cx="76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000" b="1">
                <a:solidFill>
                  <a:srgbClr val="315BFE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CAEE65-2737-360F-7245-54F504BA6C5E}"/>
              </a:ext>
            </a:extLst>
          </p:cNvPr>
          <p:cNvSpPr txBox="1"/>
          <p:nvPr/>
        </p:nvSpPr>
        <p:spPr>
          <a:xfrm>
            <a:off x="1041400" y="4394200"/>
            <a:ext cx="3365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000" b="1">
                <a:solidFill>
                  <a:srgbClr val="102639"/>
                </a:solidFill>
                <a:latin typeface="Aptos" panose="020B0004020202020204" pitchFamily="34" charset="0"/>
              </a:rPr>
              <a:t>Много визуального шума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27DF1B-1819-717B-7078-FB50733795EC}"/>
              </a:ext>
            </a:extLst>
          </p:cNvPr>
          <p:cNvSpPr txBox="1"/>
          <p:nvPr/>
        </p:nvSpPr>
        <p:spPr>
          <a:xfrm>
            <a:off x="1041400" y="5003800"/>
            <a:ext cx="342900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600">
                <a:solidFill>
                  <a:srgbClr val="526778"/>
                </a:solidFill>
                <a:latin typeface="Aptos" panose="020B0004020202020204" pitchFamily="34" charset="0"/>
              </a:rPr>
              <a:t>Облачность, сезонность, угол съёмки и разные разрешения создают ложные различия.</a:t>
            </a:r>
            <a:endParaRPr lang="ru-KZ" sz="16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161C9F-25E1-08E8-31E3-A260AF713EDC}"/>
              </a:ext>
            </a:extLst>
          </p:cNvPr>
          <p:cNvSpPr/>
          <p:nvPr/>
        </p:nvSpPr>
        <p:spPr>
          <a:xfrm>
            <a:off x="5918200" y="3492500"/>
            <a:ext cx="4419600" cy="31496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B5D30E-5415-1CA0-70F2-C634CED3086C}"/>
              </a:ext>
            </a:extLst>
          </p:cNvPr>
          <p:cNvSpPr txBox="1"/>
          <p:nvPr/>
        </p:nvSpPr>
        <p:spPr>
          <a:xfrm>
            <a:off x="6273800" y="3835400"/>
            <a:ext cx="76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000" b="1">
                <a:solidFill>
                  <a:srgbClr val="16C6B7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53D494-BC72-F835-4065-917B9CDDF4EA}"/>
              </a:ext>
            </a:extLst>
          </p:cNvPr>
          <p:cNvSpPr txBox="1"/>
          <p:nvPr/>
        </p:nvSpPr>
        <p:spPr>
          <a:xfrm>
            <a:off x="6273800" y="43942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000" b="1">
                <a:solidFill>
                  <a:srgbClr val="102639"/>
                </a:solidFill>
                <a:latin typeface="Aptos" panose="020B0004020202020204" pitchFamily="34" charset="0"/>
              </a:rPr>
              <a:t>Результат нужно проверить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C4BBF4-B926-2E72-A2B9-2CC6B0AF8B02}"/>
              </a:ext>
            </a:extLst>
          </p:cNvPr>
          <p:cNvSpPr txBox="1"/>
          <p:nvPr/>
        </p:nvSpPr>
        <p:spPr>
          <a:xfrm>
            <a:off x="6273800" y="5003800"/>
            <a:ext cx="342900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600">
                <a:solidFill>
                  <a:srgbClr val="526778"/>
                </a:solidFill>
                <a:latin typeface="Aptos" panose="020B0004020202020204" pitchFamily="34" charset="0"/>
              </a:rPr>
              <a:t>Автоматический вывод без evidence и решения эксперта нельзя использовать как окончательный.</a:t>
            </a:r>
            <a:endParaRPr lang="ru-KZ" sz="16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F5B1D3E-DCAA-29B4-844C-7138D5AC097A}"/>
              </a:ext>
            </a:extLst>
          </p:cNvPr>
          <p:cNvSpPr/>
          <p:nvPr/>
        </p:nvSpPr>
        <p:spPr>
          <a:xfrm>
            <a:off x="11150600" y="3492500"/>
            <a:ext cx="4419600" cy="31496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4C77E9-4905-095E-F6A3-E9CB2E5BD2B5}"/>
              </a:ext>
            </a:extLst>
          </p:cNvPr>
          <p:cNvSpPr txBox="1"/>
          <p:nvPr/>
        </p:nvSpPr>
        <p:spPr>
          <a:xfrm>
            <a:off x="11506200" y="3835400"/>
            <a:ext cx="76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000" b="1">
                <a:solidFill>
                  <a:srgbClr val="FF965A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A0C3E8-9372-639B-08A5-882469A11674}"/>
              </a:ext>
            </a:extLst>
          </p:cNvPr>
          <p:cNvSpPr txBox="1"/>
          <p:nvPr/>
        </p:nvSpPr>
        <p:spPr>
          <a:xfrm>
            <a:off x="11506200" y="43942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000" b="1">
                <a:solidFill>
                  <a:srgbClr val="102639"/>
                </a:solidFill>
                <a:latin typeface="Aptos" panose="020B0004020202020204" pitchFamily="34" charset="0"/>
              </a:rPr>
              <a:t>Нет единого контура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FB76E5-63EB-D66F-4CFB-B0928CD8BF24}"/>
              </a:ext>
            </a:extLst>
          </p:cNvPr>
          <p:cNvSpPr txBox="1"/>
          <p:nvPr/>
        </p:nvSpPr>
        <p:spPr>
          <a:xfrm>
            <a:off x="11506200" y="5003800"/>
            <a:ext cx="342900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600">
                <a:solidFill>
                  <a:srgbClr val="526778"/>
                </a:solidFill>
                <a:latin typeface="Aptos" panose="020B0004020202020204" pitchFamily="34" charset="0"/>
              </a:rPr>
              <a:t>Файлы, события, комментарии и отчёты часто находятся в разных инструментах.</a:t>
            </a:r>
            <a:endParaRPr lang="ru-KZ" sz="16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3388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28082A-8E3B-378E-53BD-602408DE38D0}"/>
              </a:ext>
            </a:extLst>
          </p:cNvPr>
          <p:cNvSpPr txBox="1"/>
          <p:nvPr/>
        </p:nvSpPr>
        <p:spPr>
          <a:xfrm>
            <a:off x="685800" y="381000"/>
            <a:ext cx="254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6C6B7"/>
                </a:solidFill>
                <a:latin typeface="Aptos" panose="020B0004020202020204" pitchFamily="34" charset="0"/>
              </a:rPr>
              <a:t>GEOWATCH AI</a:t>
            </a:r>
            <a:endParaRPr lang="ru-KZ" sz="15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C93B1E-6283-BE06-752D-F1D32C87BF22}"/>
              </a:ext>
            </a:extLst>
          </p:cNvPr>
          <p:cNvSpPr txBox="1"/>
          <p:nvPr/>
        </p:nvSpPr>
        <p:spPr>
          <a:xfrm>
            <a:off x="685800" y="1041400"/>
            <a:ext cx="13970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800" b="1">
                <a:solidFill>
                  <a:srgbClr val="102639"/>
                </a:solidFill>
                <a:latin typeface="Aptos" panose="020B0004020202020204" pitchFamily="34" charset="0"/>
              </a:rPr>
              <a:t>Решение </a:t>
            </a:r>
            <a:r>
              <a:rPr lang="en-US" sz="2800" b="1">
                <a:solidFill>
                  <a:srgbClr val="102639"/>
                </a:solidFill>
                <a:latin typeface="Aptos" panose="020B0004020202020204" pitchFamily="34" charset="0"/>
              </a:rPr>
              <a:t>GeoWatch AI</a:t>
            </a:r>
            <a:endParaRPr lang="ru-KZ" sz="28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B2C377-56CA-9968-5338-1CF883B0FD22}"/>
              </a:ext>
            </a:extLst>
          </p:cNvPr>
          <p:cNvSpPr txBox="1"/>
          <p:nvPr/>
        </p:nvSpPr>
        <p:spPr>
          <a:xfrm>
            <a:off x="14909800" y="406400"/>
            <a:ext cx="660400" cy="20774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300" b="1">
                <a:solidFill>
                  <a:srgbClr val="526778"/>
                </a:solidFill>
                <a:latin typeface="Aptos" panose="020B0004020202020204" pitchFamily="34" charset="0"/>
              </a:rPr>
              <a:t>03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9055AC5-9112-AEE0-C9EB-407B2C7A5CCE}"/>
              </a:ext>
            </a:extLst>
          </p:cNvPr>
          <p:cNvCxnSpPr/>
          <p:nvPr/>
        </p:nvCxnSpPr>
        <p:spPr>
          <a:xfrm>
            <a:off x="685800" y="1841500"/>
            <a:ext cx="14871700" cy="0"/>
          </a:xfrm>
          <a:prstGeom prst="line">
            <a:avLst/>
          </a:prstGeom>
          <a:ln w="12700">
            <a:solidFill>
              <a:srgbClr val="DA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9ECFECC-5BDC-D09D-F90C-B24121CB6226}"/>
              </a:ext>
            </a:extLst>
          </p:cNvPr>
          <p:cNvSpPr txBox="1"/>
          <p:nvPr/>
        </p:nvSpPr>
        <p:spPr>
          <a:xfrm>
            <a:off x="685800" y="2286000"/>
            <a:ext cx="10414000" cy="70788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2300" b="1">
                <a:solidFill>
                  <a:srgbClr val="102639"/>
                </a:solidFill>
                <a:latin typeface="Aptos" panose="020B0004020202020204" pitchFamily="34" charset="0"/>
              </a:rPr>
              <a:t>Локальный MVP переводит снимки и temporal-пары в очередь наблюдений для аналитика.</a:t>
            </a:r>
            <a:endParaRPr lang="ru-KZ" sz="23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EC4839-D512-48FC-A526-C41F91AE772F}"/>
              </a:ext>
            </a:extLst>
          </p:cNvPr>
          <p:cNvSpPr txBox="1"/>
          <p:nvPr/>
        </p:nvSpPr>
        <p:spPr>
          <a:xfrm>
            <a:off x="1041400" y="3873500"/>
            <a:ext cx="190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800" b="1">
                <a:solidFill>
                  <a:srgbClr val="526778"/>
                </a:solidFill>
                <a:latin typeface="Aptos" panose="020B0004020202020204" pitchFamily="34" charset="0"/>
              </a:rPr>
              <a:t>Источник / </a:t>
            </a:r>
            <a:r>
              <a:rPr lang="en-US" sz="1800" b="1">
                <a:solidFill>
                  <a:srgbClr val="526778"/>
                </a:solidFill>
                <a:latin typeface="Aptos" panose="020B0004020202020204" pitchFamily="34" charset="0"/>
              </a:rPr>
              <a:t>AOI</a:t>
            </a:r>
            <a:endParaRPr lang="ru-KZ" sz="1800" b="1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D94F09-C301-17FB-A6C0-56E961FFDED4}"/>
              </a:ext>
            </a:extLst>
          </p:cNvPr>
          <p:cNvSpPr txBox="1"/>
          <p:nvPr/>
        </p:nvSpPr>
        <p:spPr>
          <a:xfrm>
            <a:off x="3644900" y="3873500"/>
            <a:ext cx="2387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800" b="1">
                <a:solidFill>
                  <a:srgbClr val="526778"/>
                </a:solidFill>
                <a:latin typeface="Aptos" panose="020B0004020202020204" pitchFamily="34" charset="0"/>
              </a:rPr>
              <a:t>Проверка качества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40B60A-EA2D-59A1-D8A9-E2EE4325E5DA}"/>
              </a:ext>
            </a:extLst>
          </p:cNvPr>
          <p:cNvSpPr txBox="1"/>
          <p:nvPr/>
        </p:nvSpPr>
        <p:spPr>
          <a:xfrm>
            <a:off x="6794500" y="3873500"/>
            <a:ext cx="1600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 b="1">
                <a:solidFill>
                  <a:srgbClr val="526778"/>
                </a:solidFill>
                <a:latin typeface="Aptos" panose="020B0004020202020204" pitchFamily="34" charset="0"/>
              </a:rPr>
              <a:t>AI-</a:t>
            </a:r>
            <a:r>
              <a:rPr lang="ru-KZ" sz="1800" b="1">
                <a:solidFill>
                  <a:srgbClr val="526778"/>
                </a:solidFill>
                <a:latin typeface="Aptos" panose="020B0004020202020204" pitchFamily="34" charset="0"/>
              </a:rPr>
              <a:t>анализ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FD8CC7-B84F-38B5-0047-917FDD6C901F}"/>
              </a:ext>
            </a:extLst>
          </p:cNvPr>
          <p:cNvSpPr txBox="1"/>
          <p:nvPr/>
        </p:nvSpPr>
        <p:spPr>
          <a:xfrm>
            <a:off x="9359900" y="3873500"/>
            <a:ext cx="23368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800" b="1">
                <a:solidFill>
                  <a:srgbClr val="526778"/>
                </a:solidFill>
                <a:latin typeface="Aptos" panose="020B0004020202020204" pitchFamily="34" charset="0"/>
              </a:rPr>
              <a:t>Экспертная проверка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65DDE6-D0B2-F67F-5A20-5A6EA64C9452}"/>
              </a:ext>
            </a:extLst>
          </p:cNvPr>
          <p:cNvSpPr txBox="1"/>
          <p:nvPr/>
        </p:nvSpPr>
        <p:spPr>
          <a:xfrm>
            <a:off x="12750800" y="38735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800" b="1">
                <a:solidFill>
                  <a:srgbClr val="526778"/>
                </a:solidFill>
                <a:latin typeface="Aptos" panose="020B0004020202020204" pitchFamily="34" charset="0"/>
              </a:rPr>
              <a:t>Кейс и экспорт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D63F827-5C38-2640-7F76-B319800A44C8}"/>
              </a:ext>
            </a:extLst>
          </p:cNvPr>
          <p:cNvSpPr/>
          <p:nvPr/>
        </p:nvSpPr>
        <p:spPr>
          <a:xfrm>
            <a:off x="1041400" y="4521200"/>
            <a:ext cx="1473200" cy="1473200"/>
          </a:xfrm>
          <a:prstGeom prst="roundRect">
            <a:avLst/>
          </a:prstGeom>
          <a:solidFill>
            <a:srgbClr val="16C6B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E70150C-D6E9-E7B7-9DEF-7B210E5888B2}"/>
              </a:ext>
            </a:extLst>
          </p:cNvPr>
          <p:cNvSpPr/>
          <p:nvPr/>
        </p:nvSpPr>
        <p:spPr>
          <a:xfrm>
            <a:off x="3644900" y="4521200"/>
            <a:ext cx="1473200" cy="1473200"/>
          </a:xfrm>
          <a:prstGeom prst="roundRect">
            <a:avLst/>
          </a:prstGeom>
          <a:solidFill>
            <a:srgbClr val="16C6B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15FB2DF-14CD-BEEA-C271-0CA64E77AABD}"/>
              </a:ext>
            </a:extLst>
          </p:cNvPr>
          <p:cNvSpPr/>
          <p:nvPr/>
        </p:nvSpPr>
        <p:spPr>
          <a:xfrm>
            <a:off x="6794500" y="4521200"/>
            <a:ext cx="1473200" cy="1473200"/>
          </a:xfrm>
          <a:prstGeom prst="roundRect">
            <a:avLst/>
          </a:prstGeom>
          <a:solidFill>
            <a:srgbClr val="16C6B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031A1E0-2C1F-B445-E89F-3A2401819999}"/>
              </a:ext>
            </a:extLst>
          </p:cNvPr>
          <p:cNvSpPr/>
          <p:nvPr/>
        </p:nvSpPr>
        <p:spPr>
          <a:xfrm>
            <a:off x="9359900" y="4521200"/>
            <a:ext cx="1473200" cy="1473200"/>
          </a:xfrm>
          <a:prstGeom prst="roundRect">
            <a:avLst/>
          </a:prstGeom>
          <a:solidFill>
            <a:srgbClr val="16C6B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694A8513-FFE0-0781-AF81-1D41A09AB858}"/>
              </a:ext>
            </a:extLst>
          </p:cNvPr>
          <p:cNvSpPr/>
          <p:nvPr/>
        </p:nvSpPr>
        <p:spPr>
          <a:xfrm>
            <a:off x="12750800" y="4521200"/>
            <a:ext cx="1473200" cy="1473200"/>
          </a:xfrm>
          <a:prstGeom prst="roundRect">
            <a:avLst/>
          </a:prstGeom>
          <a:solidFill>
            <a:srgbClr val="16C6B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2A6480A-AD2C-DF06-9F1F-16EA17F71337}"/>
              </a:ext>
            </a:extLst>
          </p:cNvPr>
          <p:cNvCxnSpPr/>
          <p:nvPr/>
        </p:nvCxnSpPr>
        <p:spPr>
          <a:xfrm>
            <a:off x="2514600" y="5257800"/>
            <a:ext cx="1130300" cy="0"/>
          </a:xfrm>
          <a:prstGeom prst="line">
            <a:avLst/>
          </a:prstGeom>
          <a:ln w="25400">
            <a:solidFill>
              <a:srgbClr val="315B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6CF5F9A-068C-3D2D-7EC7-262A8098728E}"/>
              </a:ext>
            </a:extLst>
          </p:cNvPr>
          <p:cNvCxnSpPr/>
          <p:nvPr/>
        </p:nvCxnSpPr>
        <p:spPr>
          <a:xfrm>
            <a:off x="5118100" y="5257800"/>
            <a:ext cx="1130300" cy="0"/>
          </a:xfrm>
          <a:prstGeom prst="line">
            <a:avLst/>
          </a:prstGeom>
          <a:ln w="25400">
            <a:solidFill>
              <a:srgbClr val="315B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60102E8-8F48-4CA6-C4FD-7CB247E2DB8B}"/>
              </a:ext>
            </a:extLst>
          </p:cNvPr>
          <p:cNvCxnSpPr/>
          <p:nvPr/>
        </p:nvCxnSpPr>
        <p:spPr>
          <a:xfrm>
            <a:off x="8267700" y="5257800"/>
            <a:ext cx="1130300" cy="0"/>
          </a:xfrm>
          <a:prstGeom prst="line">
            <a:avLst/>
          </a:prstGeom>
          <a:ln w="25400">
            <a:solidFill>
              <a:srgbClr val="315B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9213D9-C383-CB31-30FC-6543BA0F385B}"/>
              </a:ext>
            </a:extLst>
          </p:cNvPr>
          <p:cNvCxnSpPr/>
          <p:nvPr/>
        </p:nvCxnSpPr>
        <p:spPr>
          <a:xfrm>
            <a:off x="10833100" y="5257800"/>
            <a:ext cx="1130300" cy="0"/>
          </a:xfrm>
          <a:prstGeom prst="line">
            <a:avLst/>
          </a:prstGeom>
          <a:ln w="25400">
            <a:solidFill>
              <a:srgbClr val="315B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54AE88E8-75A7-B7BC-9716-4ED5749B950D}"/>
              </a:ext>
            </a:extLst>
          </p:cNvPr>
          <p:cNvSpPr txBox="1"/>
          <p:nvPr/>
        </p:nvSpPr>
        <p:spPr>
          <a:xfrm>
            <a:off x="863600" y="6286500"/>
            <a:ext cx="1854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600" b="1">
                <a:solidFill>
                  <a:srgbClr val="102639"/>
                </a:solidFill>
                <a:latin typeface="Aptos" panose="020B0004020202020204" pitchFamily="34" charset="0"/>
              </a:rPr>
              <a:t>Фото и </a:t>
            </a:r>
            <a:r>
              <a:rPr lang="en-US" sz="1600" b="1">
                <a:solidFill>
                  <a:srgbClr val="102639"/>
                </a:solidFill>
                <a:latin typeface="Aptos" panose="020B0004020202020204" pitchFamily="34" charset="0"/>
              </a:rPr>
              <a:t>GeoTIFF</a:t>
            </a:r>
            <a:endParaRPr lang="ru-KZ" sz="16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3F728B-4782-7057-194D-221FC0198D43}"/>
              </a:ext>
            </a:extLst>
          </p:cNvPr>
          <p:cNvSpPr txBox="1"/>
          <p:nvPr/>
        </p:nvSpPr>
        <p:spPr>
          <a:xfrm>
            <a:off x="3251200" y="6286500"/>
            <a:ext cx="23368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102639"/>
                </a:solidFill>
                <a:latin typeface="Aptos" panose="020B0004020202020204" pitchFamily="34" charset="0"/>
              </a:rPr>
              <a:t>Gate </a:t>
            </a:r>
            <a:r>
              <a:rPr lang="ru-KZ" sz="1600" b="1">
                <a:solidFill>
                  <a:srgbClr val="102639"/>
                </a:solidFill>
                <a:latin typeface="Aptos" panose="020B0004020202020204" pitchFamily="34" charset="0"/>
              </a:rPr>
              <a:t>по совместимости пары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B7889C-F02D-B7D1-2F5C-BAB54CB3A7FB}"/>
              </a:ext>
            </a:extLst>
          </p:cNvPr>
          <p:cNvSpPr txBox="1"/>
          <p:nvPr/>
        </p:nvSpPr>
        <p:spPr>
          <a:xfrm>
            <a:off x="6286500" y="6286500"/>
            <a:ext cx="23495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102639"/>
                </a:solidFill>
                <a:latin typeface="Aptos" panose="020B0004020202020204" pitchFamily="34" charset="0"/>
              </a:rPr>
              <a:t>YOLO, </a:t>
            </a:r>
            <a:r>
              <a:rPr lang="ru-KZ" sz="1600" b="1">
                <a:solidFill>
                  <a:srgbClr val="102639"/>
                </a:solidFill>
                <a:latin typeface="Aptos" panose="020B0004020202020204" pitchFamily="34" charset="0"/>
              </a:rPr>
              <a:t>тайлы, </a:t>
            </a:r>
            <a:r>
              <a:rPr lang="en-US" sz="1600" b="1">
                <a:solidFill>
                  <a:srgbClr val="102639"/>
                </a:solidFill>
                <a:latin typeface="Aptos" panose="020B0004020202020204" pitchFamily="34" charset="0"/>
              </a:rPr>
              <a:t>NMS, </a:t>
            </a:r>
            <a:r>
              <a:rPr lang="ru-KZ" sz="1600" b="1">
                <a:solidFill>
                  <a:srgbClr val="102639"/>
                </a:solidFill>
                <a:latin typeface="Aptos" panose="020B0004020202020204" pitchFamily="34" charset="0"/>
              </a:rPr>
              <a:t>события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F9DF1D-94E7-CD64-5B69-257604A7398C}"/>
              </a:ext>
            </a:extLst>
          </p:cNvPr>
          <p:cNvSpPr txBox="1"/>
          <p:nvPr/>
        </p:nvSpPr>
        <p:spPr>
          <a:xfrm>
            <a:off x="8940800" y="6286500"/>
            <a:ext cx="26924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102639"/>
                </a:solidFill>
                <a:latin typeface="Aptos" panose="020B0004020202020204" pitchFamily="34" charset="0"/>
              </a:rPr>
              <a:t>confirmed / rejected / needs_review</a:t>
            </a:r>
            <a:endParaRPr lang="ru-KZ" sz="16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D2DE0-F82F-2A67-9E4C-E4AFE935A182}"/>
              </a:ext>
            </a:extLst>
          </p:cNvPr>
          <p:cNvSpPr txBox="1"/>
          <p:nvPr/>
        </p:nvSpPr>
        <p:spPr>
          <a:xfrm>
            <a:off x="12471400" y="6286500"/>
            <a:ext cx="26162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102639"/>
                </a:solidFill>
                <a:latin typeface="Aptos" panose="020B0004020202020204" pitchFamily="34" charset="0"/>
              </a:rPr>
              <a:t>JSON, CSV, HTML, PDF, ZIP</a:t>
            </a:r>
            <a:endParaRPr lang="ru-KZ" sz="16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4749C3-0A58-CAB3-602C-F44950D6579D}"/>
              </a:ext>
            </a:extLst>
          </p:cNvPr>
          <p:cNvSpPr txBox="1"/>
          <p:nvPr/>
        </p:nvSpPr>
        <p:spPr>
          <a:xfrm>
            <a:off x="685800" y="7747000"/>
            <a:ext cx="13335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800">
                <a:solidFill>
                  <a:srgbClr val="526778"/>
                </a:solidFill>
                <a:latin typeface="Aptos" panose="020B0004020202020204" pitchFamily="34" charset="0"/>
              </a:rPr>
              <a:t>Каждое событие требует статуса review. GeoWatch AI не принимает автономных решений.</a:t>
            </a:r>
            <a:endParaRPr lang="ru-KZ" sz="18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925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5CBA7A-FF9D-11FC-F423-5E73069F9B45}"/>
              </a:ext>
            </a:extLst>
          </p:cNvPr>
          <p:cNvSpPr txBox="1"/>
          <p:nvPr/>
        </p:nvSpPr>
        <p:spPr>
          <a:xfrm>
            <a:off x="685800" y="381000"/>
            <a:ext cx="254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6C6B7"/>
                </a:solidFill>
                <a:latin typeface="Aptos" panose="020B0004020202020204" pitchFamily="34" charset="0"/>
              </a:rPr>
              <a:t>GEOWATCH AI</a:t>
            </a:r>
            <a:endParaRPr lang="ru-KZ" sz="15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7F49CF-FB9B-BB18-11F9-C871A15185F8}"/>
              </a:ext>
            </a:extLst>
          </p:cNvPr>
          <p:cNvSpPr txBox="1"/>
          <p:nvPr/>
        </p:nvSpPr>
        <p:spPr>
          <a:xfrm>
            <a:off x="685800" y="1041400"/>
            <a:ext cx="13970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2800" b="1">
                <a:solidFill>
                  <a:srgbClr val="102639"/>
                </a:solidFill>
                <a:latin typeface="Aptos" panose="020B0004020202020204" pitchFamily="34" charset="0"/>
              </a:rPr>
              <a:t>Рабочий экран: анализ и evidence</a:t>
            </a:r>
            <a:endParaRPr lang="ru-KZ" sz="28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094B18-F548-5D5B-7523-913F96F16635}"/>
              </a:ext>
            </a:extLst>
          </p:cNvPr>
          <p:cNvSpPr txBox="1"/>
          <p:nvPr/>
        </p:nvSpPr>
        <p:spPr>
          <a:xfrm>
            <a:off x="14909800" y="406400"/>
            <a:ext cx="660400" cy="20774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300" b="1">
                <a:solidFill>
                  <a:srgbClr val="526778"/>
                </a:solidFill>
                <a:latin typeface="Aptos" panose="020B0004020202020204" pitchFamily="34" charset="0"/>
              </a:rPr>
              <a:t>04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66117D-FBCD-EAD5-19B6-1777CD271885}"/>
              </a:ext>
            </a:extLst>
          </p:cNvPr>
          <p:cNvCxnSpPr/>
          <p:nvPr/>
        </p:nvCxnSpPr>
        <p:spPr>
          <a:xfrm>
            <a:off x="685800" y="1841500"/>
            <a:ext cx="14871700" cy="0"/>
          </a:xfrm>
          <a:prstGeom prst="line">
            <a:avLst/>
          </a:prstGeom>
          <a:ln w="12700">
            <a:solidFill>
              <a:srgbClr val="DA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3AF01AC-3CED-1DD3-4065-A0F98D6121B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2260600"/>
            <a:ext cx="9436100" cy="5308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E89C1BD-6A58-4131-1560-775DCC5554AF}"/>
              </a:ext>
            </a:extLst>
          </p:cNvPr>
          <p:cNvSpPr txBox="1"/>
          <p:nvPr/>
        </p:nvSpPr>
        <p:spPr>
          <a:xfrm>
            <a:off x="10845800" y="2514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400" b="1">
                <a:solidFill>
                  <a:srgbClr val="102639"/>
                </a:solidFill>
                <a:latin typeface="Aptos" panose="020B0004020202020204" pitchFamily="34" charset="0"/>
              </a:rPr>
              <a:t>Интерфейс помогает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94703F-CF75-F8DC-182B-16F533837066}"/>
              </a:ext>
            </a:extLst>
          </p:cNvPr>
          <p:cNvSpPr txBox="1"/>
          <p:nvPr/>
        </p:nvSpPr>
        <p:spPr>
          <a:xfrm>
            <a:off x="10845800" y="3302000"/>
            <a:ext cx="4318000" cy="166199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800">
                <a:solidFill>
                  <a:srgbClr val="526778"/>
                </a:solidFill>
                <a:latin typeface="Aptos" panose="020B0004020202020204" pitchFamily="34" charset="0"/>
              </a:rPr>
              <a:t>• загрузить снимок и выбрать порог confidence
• увидеть bounding boxes, класс и score
• открыть evidence card конкретного объекта
• направить результат на review</a:t>
            </a:r>
            <a:endParaRPr lang="ru-KZ" sz="18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484BAE0-6498-094F-7CC3-2F9334495753}"/>
              </a:ext>
            </a:extLst>
          </p:cNvPr>
          <p:cNvSpPr/>
          <p:nvPr/>
        </p:nvSpPr>
        <p:spPr>
          <a:xfrm>
            <a:off x="10845800" y="6350000"/>
            <a:ext cx="3860800" cy="914400"/>
          </a:xfrm>
          <a:prstGeom prst="roundRect">
            <a:avLst/>
          </a:prstGeom>
          <a:solidFill>
            <a:srgbClr val="E2F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57D406-8709-D543-1521-137FA24ACAB6}"/>
              </a:ext>
            </a:extLst>
          </p:cNvPr>
          <p:cNvSpPr txBox="1"/>
          <p:nvPr/>
        </p:nvSpPr>
        <p:spPr>
          <a:xfrm>
            <a:off x="11137900" y="6578600"/>
            <a:ext cx="3429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600" b="1">
                <a:solidFill>
                  <a:srgbClr val="102639"/>
                </a:solidFill>
                <a:latin typeface="Aptos" panose="020B0004020202020204" pitchFamily="34" charset="0"/>
              </a:rPr>
              <a:t>Модель работает локально.
Секреты не попадают в UI.</a:t>
            </a:r>
            <a:endParaRPr lang="ru-KZ" sz="16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7802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925D56-8DDC-2A96-C090-CE455CFC1674}"/>
              </a:ext>
            </a:extLst>
          </p:cNvPr>
          <p:cNvSpPr txBox="1"/>
          <p:nvPr/>
        </p:nvSpPr>
        <p:spPr>
          <a:xfrm>
            <a:off x="685800" y="381000"/>
            <a:ext cx="254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6C6B7"/>
                </a:solidFill>
                <a:latin typeface="Aptos" panose="020B0004020202020204" pitchFamily="34" charset="0"/>
              </a:rPr>
              <a:t>GEOWATCH AI</a:t>
            </a:r>
            <a:endParaRPr lang="ru-KZ" sz="15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3B24BB-5A34-60DF-C3CB-AA63584580E3}"/>
              </a:ext>
            </a:extLst>
          </p:cNvPr>
          <p:cNvSpPr txBox="1"/>
          <p:nvPr/>
        </p:nvSpPr>
        <p:spPr>
          <a:xfrm>
            <a:off x="685800" y="1041400"/>
            <a:ext cx="13970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800" b="1">
                <a:solidFill>
                  <a:srgbClr val="102639"/>
                </a:solidFill>
                <a:latin typeface="Aptos" panose="020B0004020202020204" pitchFamily="34" charset="0"/>
              </a:rPr>
              <a:t>Хронология изменений «до / после»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67E4DF-88DC-E0A7-7CF5-C4A2B9D37C99}"/>
              </a:ext>
            </a:extLst>
          </p:cNvPr>
          <p:cNvSpPr txBox="1"/>
          <p:nvPr/>
        </p:nvSpPr>
        <p:spPr>
          <a:xfrm>
            <a:off x="14909800" y="406400"/>
            <a:ext cx="660400" cy="20774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300" b="1">
                <a:solidFill>
                  <a:srgbClr val="526778"/>
                </a:solidFill>
                <a:latin typeface="Aptos" panose="020B0004020202020204" pitchFamily="34" charset="0"/>
              </a:rPr>
              <a:t>05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B8D167-2C7B-A985-5170-B3CD87FF15CA}"/>
              </a:ext>
            </a:extLst>
          </p:cNvPr>
          <p:cNvCxnSpPr/>
          <p:nvPr/>
        </p:nvCxnSpPr>
        <p:spPr>
          <a:xfrm>
            <a:off x="685800" y="1841500"/>
            <a:ext cx="14871700" cy="0"/>
          </a:xfrm>
          <a:prstGeom prst="line">
            <a:avLst/>
          </a:prstGeom>
          <a:ln w="12700">
            <a:solidFill>
              <a:srgbClr val="DA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29704AE-FAC9-950B-C280-09D0B577E4FF}"/>
              </a:ext>
            </a:extLst>
          </p:cNvPr>
          <p:cNvSpPr txBox="1"/>
          <p:nvPr/>
        </p:nvSpPr>
        <p:spPr>
          <a:xfrm>
            <a:off x="685800" y="2260600"/>
            <a:ext cx="13335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2200" b="1">
                <a:solidFill>
                  <a:srgbClr val="102639"/>
                </a:solidFill>
                <a:latin typeface="Aptos" panose="020B0004020202020204" pitchFamily="34" charset="0"/>
              </a:rPr>
              <a:t>Отдельный workspace показывает две даты, слои объектов и события appeared, disappeared, stable.</a:t>
            </a:r>
            <a:endParaRPr lang="ru-KZ" sz="22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BD5C3C-C7E9-5B4B-4E67-DC59253FB42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3111500"/>
            <a:ext cx="9271000" cy="5207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95753AC-A82C-A2B2-82DC-CF40782736FA}"/>
              </a:ext>
            </a:extLst>
          </p:cNvPr>
          <p:cNvSpPr txBox="1"/>
          <p:nvPr/>
        </p:nvSpPr>
        <p:spPr>
          <a:xfrm>
            <a:off x="10744200" y="3200400"/>
            <a:ext cx="4064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200" b="1">
                <a:solidFill>
                  <a:srgbClr val="102639"/>
                </a:solidFill>
                <a:latin typeface="Aptos" panose="020B0004020202020204" pitchFamily="34" charset="0"/>
              </a:rPr>
              <a:t>Что проверяет система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07DEAD-C31C-22F0-8A6D-9A4F77B9EFDA}"/>
              </a:ext>
            </a:extLst>
          </p:cNvPr>
          <p:cNvSpPr txBox="1"/>
          <p:nvPr/>
        </p:nvSpPr>
        <p:spPr>
          <a:xfrm>
            <a:off x="10744200" y="3962400"/>
            <a:ext cx="4318000" cy="110799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800">
                <a:solidFill>
                  <a:srgbClr val="526778"/>
                </a:solidFill>
                <a:latin typeface="Aptos" panose="020B0004020202020204" pitchFamily="34" charset="0"/>
              </a:rPr>
              <a:t>• качество входных изображений
• overlap, CRS и grid для GeoTIFF
• безопасную регистрацию JPG/PNG
• связь событий с review и кейсом</a:t>
            </a:r>
            <a:endParaRPr lang="ru-KZ" sz="18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056013C-6D88-8CC1-2D82-92AF4CD16763}"/>
              </a:ext>
            </a:extLst>
          </p:cNvPr>
          <p:cNvSpPr/>
          <p:nvPr/>
        </p:nvSpPr>
        <p:spPr>
          <a:xfrm>
            <a:off x="10744200" y="6858000"/>
            <a:ext cx="4191000" cy="939800"/>
          </a:xfrm>
          <a:prstGeom prst="roundRect">
            <a:avLst/>
          </a:prstGeom>
          <a:solidFill>
            <a:srgbClr val="FFEFE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18B78C-6BCE-FD75-1D53-2B4ACF7FDCEB}"/>
              </a:ext>
            </a:extLst>
          </p:cNvPr>
          <p:cNvSpPr txBox="1"/>
          <p:nvPr/>
        </p:nvSpPr>
        <p:spPr>
          <a:xfrm>
            <a:off x="11023600" y="7086600"/>
            <a:ext cx="3708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500" b="1">
                <a:solidFill>
                  <a:srgbClr val="102639"/>
                </a:solidFill>
                <a:latin typeface="Aptos" panose="020B0004020202020204" pitchFamily="34" charset="0"/>
              </a:rPr>
              <a:t>Демо temporal-flow синтетическое.
Он показывает product flow, не метрику change model.</a:t>
            </a:r>
            <a:endParaRPr lang="ru-KZ" sz="15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738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2D26DD-46D0-5E60-C90D-100B8E32C9E9}"/>
              </a:ext>
            </a:extLst>
          </p:cNvPr>
          <p:cNvSpPr txBox="1"/>
          <p:nvPr/>
        </p:nvSpPr>
        <p:spPr>
          <a:xfrm>
            <a:off x="685800" y="381000"/>
            <a:ext cx="254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6C6B7"/>
                </a:solidFill>
                <a:latin typeface="Aptos" panose="020B0004020202020204" pitchFamily="34" charset="0"/>
              </a:rPr>
              <a:t>GEOWATCH AI</a:t>
            </a:r>
            <a:endParaRPr lang="ru-KZ" sz="15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C60312-4CFC-2ECD-5E55-456DAEB64242}"/>
              </a:ext>
            </a:extLst>
          </p:cNvPr>
          <p:cNvSpPr txBox="1"/>
          <p:nvPr/>
        </p:nvSpPr>
        <p:spPr>
          <a:xfrm>
            <a:off x="685800" y="1041400"/>
            <a:ext cx="13970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800" b="1">
                <a:solidFill>
                  <a:srgbClr val="102639"/>
                </a:solidFill>
                <a:latin typeface="Aptos" panose="020B0004020202020204" pitchFamily="34" charset="0"/>
              </a:rPr>
              <a:t>Архитектура </a:t>
            </a:r>
            <a:r>
              <a:rPr lang="en-US" sz="2800" b="1">
                <a:solidFill>
                  <a:srgbClr val="102639"/>
                </a:solidFill>
                <a:latin typeface="Aptos" panose="020B0004020202020204" pitchFamily="34" charset="0"/>
              </a:rPr>
              <a:t>MVP</a:t>
            </a:r>
            <a:endParaRPr lang="ru-KZ" sz="28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10E6B-7CDC-E2AA-3CDF-BF58B81A3351}"/>
              </a:ext>
            </a:extLst>
          </p:cNvPr>
          <p:cNvSpPr txBox="1"/>
          <p:nvPr/>
        </p:nvSpPr>
        <p:spPr>
          <a:xfrm>
            <a:off x="14909800" y="406400"/>
            <a:ext cx="660400" cy="20774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300" b="1">
                <a:solidFill>
                  <a:srgbClr val="526778"/>
                </a:solidFill>
                <a:latin typeface="Aptos" panose="020B0004020202020204" pitchFamily="34" charset="0"/>
              </a:rPr>
              <a:t>06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17BA531-68A3-6F13-F9D0-9A43A6BC4BBE}"/>
              </a:ext>
            </a:extLst>
          </p:cNvPr>
          <p:cNvCxnSpPr/>
          <p:nvPr/>
        </p:nvCxnSpPr>
        <p:spPr>
          <a:xfrm>
            <a:off x="685800" y="1841500"/>
            <a:ext cx="14871700" cy="0"/>
          </a:xfrm>
          <a:prstGeom prst="line">
            <a:avLst/>
          </a:prstGeom>
          <a:ln w="12700">
            <a:solidFill>
              <a:srgbClr val="DA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408C082-E6BE-3CCD-056C-4F2163EDAD7F}"/>
              </a:ext>
            </a:extLst>
          </p:cNvPr>
          <p:cNvSpPr txBox="1"/>
          <p:nvPr/>
        </p:nvSpPr>
        <p:spPr>
          <a:xfrm>
            <a:off x="685800" y="2260600"/>
            <a:ext cx="134620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2200" b="1">
                <a:solidFill>
                  <a:srgbClr val="102639"/>
                </a:solidFill>
                <a:latin typeface="Aptos" panose="020B0004020202020204" pitchFamily="34" charset="0"/>
              </a:rPr>
              <a:t>Единый pipeline используется в Streamlit и FastAPI, а результаты и review хранятся локально.</a:t>
            </a:r>
            <a:endParaRPr lang="ru-KZ" sz="22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C0318D0-34E1-BEBB-BFB6-9E0A8E6EE509}"/>
              </a:ext>
            </a:extLst>
          </p:cNvPr>
          <p:cNvSpPr/>
          <p:nvPr/>
        </p:nvSpPr>
        <p:spPr>
          <a:xfrm>
            <a:off x="685800" y="3810000"/>
            <a:ext cx="3073400" cy="2476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7893631-A47F-C2A5-C620-331F202C83E9}"/>
              </a:ext>
            </a:extLst>
          </p:cNvPr>
          <p:cNvSpPr/>
          <p:nvPr/>
        </p:nvSpPr>
        <p:spPr>
          <a:xfrm>
            <a:off x="990600" y="4152900"/>
            <a:ext cx="533400" cy="533400"/>
          </a:xfrm>
          <a:prstGeom prst="roundRect">
            <a:avLst/>
          </a:prstGeom>
          <a:solidFill>
            <a:srgbClr val="315B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231A49-6765-1EDF-8117-3994E3E5E766}"/>
              </a:ext>
            </a:extLst>
          </p:cNvPr>
          <p:cNvSpPr txBox="1"/>
          <p:nvPr/>
        </p:nvSpPr>
        <p:spPr>
          <a:xfrm>
            <a:off x="1168400" y="4305300"/>
            <a:ext cx="279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4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454815-C8AB-32C8-F553-68577B210F85}"/>
              </a:ext>
            </a:extLst>
          </p:cNvPr>
          <p:cNvSpPr txBox="1"/>
          <p:nvPr/>
        </p:nvSpPr>
        <p:spPr>
          <a:xfrm>
            <a:off x="990600" y="49530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 b="1">
                <a:solidFill>
                  <a:srgbClr val="102639"/>
                </a:solidFill>
                <a:latin typeface="Aptos" panose="020B0004020202020204" pitchFamily="34" charset="0"/>
              </a:rPr>
              <a:t>Streamlit UI</a:t>
            </a:r>
            <a:endParaRPr lang="ru-KZ" sz="18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912DAF-F8D1-B191-A92D-F2DE760051DE}"/>
              </a:ext>
            </a:extLst>
          </p:cNvPr>
          <p:cNvSpPr txBox="1"/>
          <p:nvPr/>
        </p:nvSpPr>
        <p:spPr>
          <a:xfrm>
            <a:off x="990600" y="5499100"/>
            <a:ext cx="24130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>
                <a:solidFill>
                  <a:srgbClr val="526778"/>
                </a:solidFill>
                <a:latin typeface="Aptos" panose="020B0004020202020204" pitchFamily="34" charset="0"/>
              </a:rPr>
              <a:t>Анализ, изменения, </a:t>
            </a:r>
            <a:r>
              <a:rPr lang="en-US" sz="1500">
                <a:solidFill>
                  <a:srgbClr val="526778"/>
                </a:solidFill>
                <a:latin typeface="Aptos" panose="020B0004020202020204" pitchFamily="34" charset="0"/>
              </a:rPr>
              <a:t>review, </a:t>
            </a:r>
            <a:r>
              <a:rPr lang="ru-KZ" sz="1500">
                <a:solidFill>
                  <a:srgbClr val="526778"/>
                </a:solidFill>
                <a:latin typeface="Aptos" panose="020B0004020202020204" pitchFamily="34" charset="0"/>
              </a:rPr>
              <a:t>кейсы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BBD3F7E-8CD5-8052-24FB-4A74C95A1B56}"/>
              </a:ext>
            </a:extLst>
          </p:cNvPr>
          <p:cNvSpPr/>
          <p:nvPr/>
        </p:nvSpPr>
        <p:spPr>
          <a:xfrm>
            <a:off x="4445000" y="3810000"/>
            <a:ext cx="3073400" cy="2476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9208FBD-AFF0-3D89-B801-725B904E9068}"/>
              </a:ext>
            </a:extLst>
          </p:cNvPr>
          <p:cNvSpPr/>
          <p:nvPr/>
        </p:nvSpPr>
        <p:spPr>
          <a:xfrm>
            <a:off x="4749800" y="4152900"/>
            <a:ext cx="533400" cy="533400"/>
          </a:xfrm>
          <a:prstGeom prst="roundRect">
            <a:avLst/>
          </a:prstGeom>
          <a:solidFill>
            <a:srgbClr val="16C6B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B79BF4-7F30-06B5-A140-25FB52629EBE}"/>
              </a:ext>
            </a:extLst>
          </p:cNvPr>
          <p:cNvSpPr txBox="1"/>
          <p:nvPr/>
        </p:nvSpPr>
        <p:spPr>
          <a:xfrm>
            <a:off x="4927600" y="4305300"/>
            <a:ext cx="279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4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771B66-31AF-5C50-954A-426A8FDDDFA3}"/>
              </a:ext>
            </a:extLst>
          </p:cNvPr>
          <p:cNvSpPr txBox="1"/>
          <p:nvPr/>
        </p:nvSpPr>
        <p:spPr>
          <a:xfrm>
            <a:off x="4749800" y="49530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 b="1">
                <a:solidFill>
                  <a:srgbClr val="102639"/>
                </a:solidFill>
                <a:latin typeface="Aptos" panose="020B0004020202020204" pitchFamily="34" charset="0"/>
              </a:rPr>
              <a:t>FastAPI</a:t>
            </a:r>
            <a:endParaRPr lang="ru-KZ" sz="18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ED97A3-76E9-B4C3-6BC8-B33018FDFDAE}"/>
              </a:ext>
            </a:extLst>
          </p:cNvPr>
          <p:cNvSpPr txBox="1"/>
          <p:nvPr/>
        </p:nvSpPr>
        <p:spPr>
          <a:xfrm>
            <a:off x="4749800" y="5499100"/>
            <a:ext cx="24130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>
                <a:solidFill>
                  <a:srgbClr val="526778"/>
                </a:solidFill>
                <a:latin typeface="Aptos" panose="020B0004020202020204" pitchFamily="34" charset="0"/>
              </a:rPr>
              <a:t>Интеграционный </a:t>
            </a:r>
            <a:r>
              <a:rPr lang="en-US" sz="1500">
                <a:solidFill>
                  <a:srgbClr val="526778"/>
                </a:solidFill>
                <a:latin typeface="Aptos" panose="020B0004020202020204" pitchFamily="34" charset="0"/>
              </a:rPr>
              <a:t>API </a:t>
            </a:r>
            <a:r>
              <a:rPr lang="ru-KZ" sz="1500">
                <a:solidFill>
                  <a:srgbClr val="526778"/>
                </a:solidFill>
                <a:latin typeface="Aptos" panose="020B0004020202020204" pitchFamily="34" charset="0"/>
              </a:rPr>
              <a:t>и </a:t>
            </a:r>
            <a:r>
              <a:rPr lang="en-US" sz="1500">
                <a:solidFill>
                  <a:srgbClr val="526778"/>
                </a:solidFill>
                <a:latin typeface="Aptos" panose="020B0004020202020204" pitchFamily="34" charset="0"/>
              </a:rPr>
              <a:t>OpenAPI</a:t>
            </a:r>
            <a:endParaRPr lang="ru-KZ" sz="15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51C980-CE09-F1A7-E825-C82137ABDDAC}"/>
              </a:ext>
            </a:extLst>
          </p:cNvPr>
          <p:cNvSpPr/>
          <p:nvPr/>
        </p:nvSpPr>
        <p:spPr>
          <a:xfrm>
            <a:off x="8204200" y="3810000"/>
            <a:ext cx="3073400" cy="2476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6A477CE-7531-A314-2056-8B91E98DDF43}"/>
              </a:ext>
            </a:extLst>
          </p:cNvPr>
          <p:cNvSpPr/>
          <p:nvPr/>
        </p:nvSpPr>
        <p:spPr>
          <a:xfrm>
            <a:off x="8509000" y="4152900"/>
            <a:ext cx="533400" cy="533400"/>
          </a:xfrm>
          <a:prstGeom prst="roundRect">
            <a:avLst/>
          </a:prstGeom>
          <a:solidFill>
            <a:srgbClr val="FF965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7B837F-CEC9-DE47-25B6-A26EAABE268C}"/>
              </a:ext>
            </a:extLst>
          </p:cNvPr>
          <p:cNvSpPr txBox="1"/>
          <p:nvPr/>
        </p:nvSpPr>
        <p:spPr>
          <a:xfrm>
            <a:off x="8686800" y="4305300"/>
            <a:ext cx="279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4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319796-847F-50C6-404F-D59A239C753A}"/>
              </a:ext>
            </a:extLst>
          </p:cNvPr>
          <p:cNvSpPr txBox="1"/>
          <p:nvPr/>
        </p:nvSpPr>
        <p:spPr>
          <a:xfrm>
            <a:off x="8509000" y="49530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 b="1">
                <a:solidFill>
                  <a:srgbClr val="102639"/>
                </a:solidFill>
                <a:latin typeface="Aptos" panose="020B0004020202020204" pitchFamily="34" charset="0"/>
              </a:rPr>
              <a:t>Core pipeline</a:t>
            </a:r>
            <a:endParaRPr lang="ru-KZ" sz="18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E13869-054A-7C70-8FBB-7457FEE2808D}"/>
              </a:ext>
            </a:extLst>
          </p:cNvPr>
          <p:cNvSpPr txBox="1"/>
          <p:nvPr/>
        </p:nvSpPr>
        <p:spPr>
          <a:xfrm>
            <a:off x="8509000" y="5499100"/>
            <a:ext cx="24130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526778"/>
                </a:solidFill>
                <a:latin typeface="Aptos" panose="020B0004020202020204" pitchFamily="34" charset="0"/>
              </a:rPr>
              <a:t>preprocessing, tiles, YOLO, matching, reporting</a:t>
            </a:r>
            <a:endParaRPr lang="ru-KZ" sz="15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21C6827-7494-6773-42E4-D0CBC1B65C14}"/>
              </a:ext>
            </a:extLst>
          </p:cNvPr>
          <p:cNvSpPr/>
          <p:nvPr/>
        </p:nvSpPr>
        <p:spPr>
          <a:xfrm>
            <a:off x="11963400" y="3810000"/>
            <a:ext cx="3073400" cy="24765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59B59FA-90CA-48ED-0F8B-CF2788ADB34D}"/>
              </a:ext>
            </a:extLst>
          </p:cNvPr>
          <p:cNvSpPr/>
          <p:nvPr/>
        </p:nvSpPr>
        <p:spPr>
          <a:xfrm>
            <a:off x="12268200" y="4152900"/>
            <a:ext cx="533400" cy="533400"/>
          </a:xfrm>
          <a:prstGeom prst="roundRect">
            <a:avLst/>
          </a:prstGeom>
          <a:solidFill>
            <a:srgbClr val="06182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A1FB440-73D2-ABF2-7831-418CBD0F9150}"/>
              </a:ext>
            </a:extLst>
          </p:cNvPr>
          <p:cNvSpPr txBox="1"/>
          <p:nvPr/>
        </p:nvSpPr>
        <p:spPr>
          <a:xfrm>
            <a:off x="12446000" y="4305300"/>
            <a:ext cx="2794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4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872DAA-2F87-938E-BA41-C12F04960D6E}"/>
              </a:ext>
            </a:extLst>
          </p:cNvPr>
          <p:cNvSpPr txBox="1"/>
          <p:nvPr/>
        </p:nvSpPr>
        <p:spPr>
          <a:xfrm>
            <a:off x="12268200" y="49530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 b="1">
                <a:solidFill>
                  <a:srgbClr val="102639"/>
                </a:solidFill>
                <a:latin typeface="Aptos" panose="020B0004020202020204" pitchFamily="34" charset="0"/>
              </a:rPr>
              <a:t>SQLite + artifacts</a:t>
            </a:r>
            <a:endParaRPr lang="ru-KZ" sz="18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558894-6C3E-2E2D-501C-ED53A11FEB37}"/>
              </a:ext>
            </a:extLst>
          </p:cNvPr>
          <p:cNvSpPr txBox="1"/>
          <p:nvPr/>
        </p:nvSpPr>
        <p:spPr>
          <a:xfrm>
            <a:off x="12268200" y="5499100"/>
            <a:ext cx="24130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>
                <a:solidFill>
                  <a:srgbClr val="526778"/>
                </a:solidFill>
                <a:latin typeface="Aptos" panose="020B0004020202020204" pitchFamily="34" charset="0"/>
              </a:rPr>
              <a:t>история, </a:t>
            </a:r>
            <a:r>
              <a:rPr lang="en-US" sz="1500">
                <a:solidFill>
                  <a:srgbClr val="526778"/>
                </a:solidFill>
                <a:latin typeface="Aptos" panose="020B0004020202020204" pitchFamily="34" charset="0"/>
              </a:rPr>
              <a:t>jobs, exports, evidence</a:t>
            </a:r>
            <a:endParaRPr lang="ru-KZ" sz="15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CEDA002-694A-5B1C-19F2-E1870661DBC0}"/>
              </a:ext>
            </a:extLst>
          </p:cNvPr>
          <p:cNvSpPr txBox="1"/>
          <p:nvPr/>
        </p:nvSpPr>
        <p:spPr>
          <a:xfrm>
            <a:off x="685800" y="7696200"/>
            <a:ext cx="11430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>
                <a:solidFill>
                  <a:srgbClr val="526778"/>
                </a:solidFill>
                <a:latin typeface="Aptos" panose="020B0004020202020204" pitchFamily="34" charset="0"/>
              </a:rPr>
              <a:t>Optional: Google Earth Engine adapter. </a:t>
            </a:r>
            <a:r>
              <a:rPr lang="ru-KZ" sz="1700">
                <a:solidFill>
                  <a:srgbClr val="526778"/>
                </a:solidFill>
                <a:latin typeface="Aptos" panose="020B0004020202020204" pitchFamily="34" charset="0"/>
              </a:rPr>
              <a:t>Для реальных сцен нужны </a:t>
            </a:r>
            <a:r>
              <a:rPr lang="en-US" sz="1700">
                <a:solidFill>
                  <a:srgbClr val="526778"/>
                </a:solidFill>
                <a:latin typeface="Aptos" panose="020B0004020202020204" pitchFamily="34" charset="0"/>
              </a:rPr>
              <a:t>Cloud Project </a:t>
            </a:r>
            <a:r>
              <a:rPr lang="ru-KZ" sz="1700">
                <a:solidFill>
                  <a:srgbClr val="526778"/>
                </a:solidFill>
                <a:latin typeface="Aptos" panose="020B0004020202020204" pitchFamily="34" charset="0"/>
              </a:rPr>
              <a:t>и авторизация.</a:t>
            </a:r>
          </a:p>
        </p:txBody>
      </p:sp>
    </p:spTree>
    <p:extLst>
      <p:ext uri="{BB962C8B-B14F-4D97-AF65-F5344CB8AC3E}">
        <p14:creationId xmlns:p14="http://schemas.microsoft.com/office/powerpoint/2010/main" val="17508403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C104B9-74B6-F679-B360-F2C0E683C663}"/>
              </a:ext>
            </a:extLst>
          </p:cNvPr>
          <p:cNvSpPr txBox="1"/>
          <p:nvPr/>
        </p:nvSpPr>
        <p:spPr>
          <a:xfrm>
            <a:off x="685800" y="381000"/>
            <a:ext cx="254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6C6B7"/>
                </a:solidFill>
                <a:latin typeface="Aptos" panose="020B0004020202020204" pitchFamily="34" charset="0"/>
              </a:rPr>
              <a:t>GEOWATCH AI</a:t>
            </a:r>
            <a:endParaRPr lang="ru-KZ" sz="15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778192-B1C0-263B-4BFB-14558D965082}"/>
              </a:ext>
            </a:extLst>
          </p:cNvPr>
          <p:cNvSpPr txBox="1"/>
          <p:nvPr/>
        </p:nvSpPr>
        <p:spPr>
          <a:xfrm>
            <a:off x="685800" y="1041400"/>
            <a:ext cx="13970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800" b="1">
                <a:solidFill>
                  <a:srgbClr val="102639"/>
                </a:solidFill>
                <a:latin typeface="Aptos" panose="020B0004020202020204" pitchFamily="34" charset="0"/>
              </a:rPr>
              <a:t>ML-</a:t>
            </a:r>
            <a:r>
              <a:rPr lang="ru-KZ" sz="2800" b="1">
                <a:solidFill>
                  <a:srgbClr val="102639"/>
                </a:solidFill>
                <a:latin typeface="Aptos" panose="020B0004020202020204" pitchFamily="34" charset="0"/>
              </a:rPr>
              <a:t>модель и проверяемость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D0C7ED-3831-2721-4504-01EF339E0F92}"/>
              </a:ext>
            </a:extLst>
          </p:cNvPr>
          <p:cNvSpPr txBox="1"/>
          <p:nvPr/>
        </p:nvSpPr>
        <p:spPr>
          <a:xfrm>
            <a:off x="14909800" y="406400"/>
            <a:ext cx="660400" cy="20774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300" b="1">
                <a:solidFill>
                  <a:srgbClr val="526778"/>
                </a:solidFill>
                <a:latin typeface="Aptos" panose="020B0004020202020204" pitchFamily="34" charset="0"/>
              </a:rPr>
              <a:t>07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A84E421-4611-9FC5-6E7F-17AF1AAD0391}"/>
              </a:ext>
            </a:extLst>
          </p:cNvPr>
          <p:cNvCxnSpPr/>
          <p:nvPr/>
        </p:nvCxnSpPr>
        <p:spPr>
          <a:xfrm>
            <a:off x="685800" y="1841500"/>
            <a:ext cx="14871700" cy="0"/>
          </a:xfrm>
          <a:prstGeom prst="line">
            <a:avLst/>
          </a:prstGeom>
          <a:ln w="12700">
            <a:solidFill>
              <a:srgbClr val="DA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8D1F47A-6026-ECA7-CCBD-732204630D4C}"/>
              </a:ext>
            </a:extLst>
          </p:cNvPr>
          <p:cNvSpPr/>
          <p:nvPr/>
        </p:nvSpPr>
        <p:spPr>
          <a:xfrm>
            <a:off x="685800" y="2413000"/>
            <a:ext cx="6477000" cy="4953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EADF97-21E8-A673-B0FA-C7287070B5AD}"/>
              </a:ext>
            </a:extLst>
          </p:cNvPr>
          <p:cNvSpPr txBox="1"/>
          <p:nvPr/>
        </p:nvSpPr>
        <p:spPr>
          <a:xfrm>
            <a:off x="1066800" y="2844800"/>
            <a:ext cx="5207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100" b="1">
                <a:solidFill>
                  <a:srgbClr val="102639"/>
                </a:solidFill>
                <a:latin typeface="Aptos" panose="020B0004020202020204" pitchFamily="34" charset="0"/>
              </a:rPr>
              <a:t>Активный </a:t>
            </a:r>
            <a:r>
              <a:rPr lang="en-US" sz="2100" b="1">
                <a:solidFill>
                  <a:srgbClr val="102639"/>
                </a:solidFill>
                <a:latin typeface="Aptos" panose="020B0004020202020204" pitchFamily="34" charset="0"/>
              </a:rPr>
              <a:t>detection baseline</a:t>
            </a:r>
            <a:endParaRPr lang="ru-KZ" sz="21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ADBD3B-83A5-625A-F95A-9534A5F1B82A}"/>
              </a:ext>
            </a:extLst>
          </p:cNvPr>
          <p:cNvSpPr txBox="1"/>
          <p:nvPr/>
        </p:nvSpPr>
        <p:spPr>
          <a:xfrm>
            <a:off x="1066800" y="3581400"/>
            <a:ext cx="5334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>
                <a:solidFill>
                  <a:srgbClr val="526778"/>
                </a:solidFill>
                <a:latin typeface="Aptos" panose="020B0004020202020204" pitchFamily="34" charset="0"/>
              </a:rPr>
              <a:t>YOLOv8n-OBB, DOTA4
</a:t>
            </a:r>
            <a:r>
              <a:rPr lang="ru-KZ" sz="1800">
                <a:solidFill>
                  <a:srgbClr val="526778"/>
                </a:solidFill>
                <a:latin typeface="Aptos" panose="020B0004020202020204" pitchFamily="34" charset="0"/>
              </a:rPr>
              <a:t>Классы: </a:t>
            </a:r>
            <a:r>
              <a:rPr lang="en-US" sz="1800">
                <a:solidFill>
                  <a:srgbClr val="526778"/>
                </a:solidFill>
                <a:latin typeface="Aptos" panose="020B0004020202020204" pitchFamily="34" charset="0"/>
              </a:rPr>
              <a:t>aircraft, ship, small vehicle, large vehicle</a:t>
            </a:r>
            <a:endParaRPr lang="ru-KZ" sz="18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B651C6-2791-9195-51AE-D14CEED0A5C6}"/>
              </a:ext>
            </a:extLst>
          </p:cNvPr>
          <p:cNvSpPr txBox="1"/>
          <p:nvPr/>
        </p:nvSpPr>
        <p:spPr>
          <a:xfrm>
            <a:off x="1066800" y="4978400"/>
            <a:ext cx="4953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700" b="1">
                <a:solidFill>
                  <a:srgbClr val="16C6B7"/>
                </a:solidFill>
                <a:latin typeface="Aptos" panose="020B0004020202020204" pitchFamily="34" charset="0"/>
              </a:rPr>
              <a:t>Изолированный </a:t>
            </a:r>
            <a:r>
              <a:rPr lang="en-US" sz="1700" b="1">
                <a:solidFill>
                  <a:srgbClr val="16C6B7"/>
                </a:solidFill>
                <a:latin typeface="Aptos" panose="020B0004020202020204" pitchFamily="34" charset="0"/>
              </a:rPr>
              <a:t>scene-separated test split</a:t>
            </a:r>
            <a:endParaRPr lang="ru-KZ" sz="17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6B289D-D026-8FCF-212F-D4A7CEDC2C0F}"/>
              </a:ext>
            </a:extLst>
          </p:cNvPr>
          <p:cNvSpPr txBox="1"/>
          <p:nvPr/>
        </p:nvSpPr>
        <p:spPr>
          <a:xfrm>
            <a:off x="1066800" y="5562600"/>
            <a:ext cx="4064000" cy="138499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 b="1">
                <a:solidFill>
                  <a:srgbClr val="102639"/>
                </a:solidFill>
                <a:latin typeface="Aptos" panose="020B0004020202020204" pitchFamily="34" charset="0"/>
              </a:rPr>
              <a:t>Precision  0.8741
Recall     0.8354
F1             0.8543
mAP50      0.8915
mAP50-95 0.6719</a:t>
            </a:r>
            <a:endParaRPr lang="ru-KZ" sz="18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84584ED-2815-DBB9-2EF0-22501F8A0CF4}"/>
              </a:ext>
            </a:extLst>
          </p:cNvPr>
          <p:cNvSpPr/>
          <p:nvPr/>
        </p:nvSpPr>
        <p:spPr>
          <a:xfrm>
            <a:off x="7975600" y="2413000"/>
            <a:ext cx="7594600" cy="49530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BF3215-FD93-06D4-82F3-1C7B5C9FADC8}"/>
              </a:ext>
            </a:extLst>
          </p:cNvPr>
          <p:cNvSpPr txBox="1"/>
          <p:nvPr/>
        </p:nvSpPr>
        <p:spPr>
          <a:xfrm>
            <a:off x="8356600" y="2844800"/>
            <a:ext cx="5080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100" b="1">
                <a:solidFill>
                  <a:srgbClr val="102639"/>
                </a:solidFill>
                <a:latin typeface="Aptos" panose="020B0004020202020204" pitchFamily="34" charset="0"/>
              </a:rPr>
              <a:t>Честные границы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DB23F4-9013-4387-4D21-FA76388FA4E7}"/>
              </a:ext>
            </a:extLst>
          </p:cNvPr>
          <p:cNvSpPr txBox="1"/>
          <p:nvPr/>
        </p:nvSpPr>
        <p:spPr>
          <a:xfrm>
            <a:off x="8356600" y="3581400"/>
            <a:ext cx="6350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800">
                <a:solidFill>
                  <a:srgbClr val="526778"/>
                </a:solidFill>
                <a:latin typeface="Aptos" panose="020B0004020202020204" pitchFamily="34" charset="0"/>
              </a:rPr>
              <a:t>Метрики относятся к DOTA4 и четырём указанным классам. Они не доказывают автоматическое выявление строительства.</a:t>
            </a:r>
            <a:endParaRPr lang="ru-KZ" sz="18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9973A7-CD3D-0AB9-664F-15ED1078B7A4}"/>
              </a:ext>
            </a:extLst>
          </p:cNvPr>
          <p:cNvSpPr txBox="1"/>
          <p:nvPr/>
        </p:nvSpPr>
        <p:spPr>
          <a:xfrm>
            <a:off x="8356600" y="49911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 b="1">
                <a:solidFill>
                  <a:srgbClr val="FF965A"/>
                </a:solidFill>
                <a:latin typeface="Aptos" panose="020B0004020202020204" pitchFamily="34" charset="0"/>
              </a:rPr>
              <a:t>SpaceNet 7 change detection</a:t>
            </a:r>
            <a:endParaRPr lang="ru-KZ" sz="1800" b="1">
              <a:solidFill>
                <a:srgbClr val="FF965A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47077A-E1FD-BC59-6616-A8E2A0526387}"/>
              </a:ext>
            </a:extLst>
          </p:cNvPr>
          <p:cNvSpPr txBox="1"/>
          <p:nvPr/>
        </p:nvSpPr>
        <p:spPr>
          <a:xfrm>
            <a:off x="8356600" y="5524500"/>
            <a:ext cx="6350000" cy="8309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800">
                <a:solidFill>
                  <a:srgbClr val="526778"/>
                </a:solidFill>
                <a:latin typeface="Aptos" panose="020B0004020202020204" pitchFamily="34" charset="0"/>
              </a:rPr>
              <a:t>Подготовлен pipeline и AOI-separated split. Реальное обучение и независимая test-оценка остаются следующим этапом.</a:t>
            </a:r>
            <a:endParaRPr lang="ru-KZ" sz="18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45BDA2-BA1E-2EE1-3C54-686A1E918D77}"/>
              </a:ext>
            </a:extLst>
          </p:cNvPr>
          <p:cNvSpPr txBox="1"/>
          <p:nvPr/>
        </p:nvSpPr>
        <p:spPr>
          <a:xfrm>
            <a:off x="685800" y="7937500"/>
            <a:ext cx="13970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600">
                <a:solidFill>
                  <a:srgbClr val="526778"/>
                </a:solidFill>
                <a:latin typeface="Aptos" panose="020B0004020202020204" pitchFamily="34" charset="0"/>
              </a:rPr>
              <a:t>Checkpoint hash, seed, dataset manifest и метрики лежат в репозитории рядом с моделью.</a:t>
            </a:r>
            <a:endParaRPr lang="ru-KZ" sz="16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90395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7AF989-DC31-479E-0A37-EE62494BFADF}"/>
              </a:ext>
            </a:extLst>
          </p:cNvPr>
          <p:cNvSpPr txBox="1"/>
          <p:nvPr/>
        </p:nvSpPr>
        <p:spPr>
          <a:xfrm>
            <a:off x="685800" y="381000"/>
            <a:ext cx="254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6C6B7"/>
                </a:solidFill>
                <a:latin typeface="Aptos" panose="020B0004020202020204" pitchFamily="34" charset="0"/>
              </a:rPr>
              <a:t>GEOWATCH AI</a:t>
            </a:r>
            <a:endParaRPr lang="ru-KZ" sz="15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C8659B-4E8D-9378-0B56-68B356303A3B}"/>
              </a:ext>
            </a:extLst>
          </p:cNvPr>
          <p:cNvSpPr txBox="1"/>
          <p:nvPr/>
        </p:nvSpPr>
        <p:spPr>
          <a:xfrm>
            <a:off x="685800" y="1041400"/>
            <a:ext cx="13970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800" b="1">
                <a:solidFill>
                  <a:srgbClr val="102639"/>
                </a:solidFill>
                <a:latin typeface="Aptos" panose="020B0004020202020204" pitchFamily="34" charset="0"/>
              </a:rPr>
              <a:t>Соответствие ключевым требованиям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409958-4D73-38D0-0B6D-F2DC22089AF4}"/>
              </a:ext>
            </a:extLst>
          </p:cNvPr>
          <p:cNvSpPr txBox="1"/>
          <p:nvPr/>
        </p:nvSpPr>
        <p:spPr>
          <a:xfrm>
            <a:off x="14909800" y="406400"/>
            <a:ext cx="660400" cy="20774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300" b="1">
                <a:solidFill>
                  <a:srgbClr val="526778"/>
                </a:solidFill>
                <a:latin typeface="Aptos" panose="020B0004020202020204" pitchFamily="34" charset="0"/>
              </a:rPr>
              <a:t>08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4B31270-75B5-20A6-54AF-2A6C1E2A7F44}"/>
              </a:ext>
            </a:extLst>
          </p:cNvPr>
          <p:cNvCxnSpPr/>
          <p:nvPr/>
        </p:nvCxnSpPr>
        <p:spPr>
          <a:xfrm>
            <a:off x="685800" y="1841500"/>
            <a:ext cx="14871700" cy="0"/>
          </a:xfrm>
          <a:prstGeom prst="line">
            <a:avLst/>
          </a:prstGeom>
          <a:ln w="12700">
            <a:solidFill>
              <a:srgbClr val="DA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3EB6F7B-B662-252B-95DA-3F46F452CD73}"/>
              </a:ext>
            </a:extLst>
          </p:cNvPr>
          <p:cNvSpPr/>
          <p:nvPr/>
        </p:nvSpPr>
        <p:spPr>
          <a:xfrm>
            <a:off x="685800" y="2387600"/>
            <a:ext cx="14859000" cy="584200"/>
          </a:xfrm>
          <a:prstGeom prst="roundRect">
            <a:avLst/>
          </a:prstGeom>
          <a:solidFill>
            <a:srgbClr val="06182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C1CF33-DC70-04FD-294E-135A30FEF44E}"/>
              </a:ext>
            </a:extLst>
          </p:cNvPr>
          <p:cNvSpPr txBox="1"/>
          <p:nvPr/>
        </p:nvSpPr>
        <p:spPr>
          <a:xfrm>
            <a:off x="990600" y="2565400"/>
            <a:ext cx="52705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600" b="1">
                <a:solidFill>
                  <a:srgbClr val="FFFFFF"/>
                </a:solidFill>
                <a:latin typeface="Aptos" panose="020B0004020202020204" pitchFamily="34" charset="0"/>
              </a:rPr>
              <a:t>Требование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2A984A-E69C-3BFF-5663-690CBBA28C94}"/>
              </a:ext>
            </a:extLst>
          </p:cNvPr>
          <p:cNvSpPr txBox="1"/>
          <p:nvPr/>
        </p:nvSpPr>
        <p:spPr>
          <a:xfrm>
            <a:off x="6858000" y="2565400"/>
            <a:ext cx="1905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600" b="1">
                <a:solidFill>
                  <a:srgbClr val="FFFFFF"/>
                </a:solidFill>
                <a:latin typeface="Aptos" panose="020B0004020202020204" pitchFamily="34" charset="0"/>
              </a:rPr>
              <a:t>Статус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4EBE0B-9BA0-A8B8-DA84-E65E71F569FA}"/>
              </a:ext>
            </a:extLst>
          </p:cNvPr>
          <p:cNvSpPr txBox="1"/>
          <p:nvPr/>
        </p:nvSpPr>
        <p:spPr>
          <a:xfrm>
            <a:off x="9169400" y="2565400"/>
            <a:ext cx="5715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600" b="1">
                <a:solidFill>
                  <a:srgbClr val="FFFFFF"/>
                </a:solidFill>
                <a:latin typeface="Aptos" panose="020B0004020202020204" pitchFamily="34" charset="0"/>
              </a:rPr>
              <a:t>Реализация / ограничение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250DAF-E20D-C813-99B9-3A3D81E52470}"/>
              </a:ext>
            </a:extLst>
          </p:cNvPr>
          <p:cNvSpPr/>
          <p:nvPr/>
        </p:nvSpPr>
        <p:spPr>
          <a:xfrm>
            <a:off x="685800" y="2984500"/>
            <a:ext cx="14859000" cy="6985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693323-70E6-49F2-F7C9-30E78567C76F}"/>
              </a:ext>
            </a:extLst>
          </p:cNvPr>
          <p:cNvSpPr txBox="1"/>
          <p:nvPr/>
        </p:nvSpPr>
        <p:spPr>
          <a:xfrm>
            <a:off x="990600" y="3162300"/>
            <a:ext cx="533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>
                <a:solidFill>
                  <a:srgbClr val="102639"/>
                </a:solidFill>
                <a:latin typeface="Aptos" panose="020B0004020202020204" pitchFamily="34" charset="0"/>
              </a:rPr>
              <a:t>Форматы </a:t>
            </a:r>
            <a:r>
              <a:rPr lang="en-US" sz="1500">
                <a:solidFill>
                  <a:srgbClr val="102639"/>
                </a:solidFill>
                <a:latin typeface="Aptos" panose="020B0004020202020204" pitchFamily="34" charset="0"/>
              </a:rPr>
              <a:t>JPG, PNG, GeoTIFF</a:t>
            </a:r>
            <a:endParaRPr lang="ru-KZ" sz="1500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8853D6-7711-1DE8-107A-B5215DA6AD62}"/>
              </a:ext>
            </a:extLst>
          </p:cNvPr>
          <p:cNvSpPr txBox="1"/>
          <p:nvPr/>
        </p:nvSpPr>
        <p:spPr>
          <a:xfrm>
            <a:off x="6858000" y="3162300"/>
            <a:ext cx="177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 b="1">
                <a:solidFill>
                  <a:srgbClr val="16C6B7"/>
                </a:solidFill>
                <a:latin typeface="Aptos" panose="020B0004020202020204" pitchFamily="34" charset="0"/>
              </a:rPr>
              <a:t>Готово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0AB91A-461E-5E3D-DD8A-3692E2CAAFD1}"/>
              </a:ext>
            </a:extLst>
          </p:cNvPr>
          <p:cNvSpPr txBox="1"/>
          <p:nvPr/>
        </p:nvSpPr>
        <p:spPr>
          <a:xfrm>
            <a:off x="9169400" y="3162300"/>
            <a:ext cx="571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526778"/>
                </a:solidFill>
                <a:latin typeface="Aptos" panose="020B0004020202020204" pitchFamily="34" charset="0"/>
              </a:rPr>
              <a:t>preprocessing + quality gate</a:t>
            </a:r>
            <a:endParaRPr lang="ru-KZ" sz="14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52D9EA-077B-0593-D03E-3716C7EB2F9F}"/>
              </a:ext>
            </a:extLst>
          </p:cNvPr>
          <p:cNvSpPr/>
          <p:nvPr/>
        </p:nvSpPr>
        <p:spPr>
          <a:xfrm>
            <a:off x="685800" y="3721100"/>
            <a:ext cx="14859000" cy="698500"/>
          </a:xfrm>
          <a:prstGeom prst="rect">
            <a:avLst/>
          </a:prstGeom>
          <a:solidFill>
            <a:srgbClr val="EFF4F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905406-3D4C-E047-0449-FDABE143B183}"/>
              </a:ext>
            </a:extLst>
          </p:cNvPr>
          <p:cNvSpPr txBox="1"/>
          <p:nvPr/>
        </p:nvSpPr>
        <p:spPr>
          <a:xfrm>
            <a:off x="990600" y="3898900"/>
            <a:ext cx="533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>
                <a:solidFill>
                  <a:srgbClr val="102639"/>
                </a:solidFill>
                <a:latin typeface="Aptos" panose="020B0004020202020204" pitchFamily="34" charset="0"/>
              </a:rPr>
              <a:t>Детекция, классы, </a:t>
            </a:r>
            <a:r>
              <a:rPr lang="en-US" sz="1500">
                <a:solidFill>
                  <a:srgbClr val="102639"/>
                </a:solidFill>
                <a:latin typeface="Aptos" panose="020B0004020202020204" pitchFamily="34" charset="0"/>
              </a:rPr>
              <a:t>bbox, confidence</a:t>
            </a:r>
            <a:endParaRPr lang="ru-KZ" sz="1500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2FD376-22A3-A912-D029-D0525BCC0FDB}"/>
              </a:ext>
            </a:extLst>
          </p:cNvPr>
          <p:cNvSpPr txBox="1"/>
          <p:nvPr/>
        </p:nvSpPr>
        <p:spPr>
          <a:xfrm>
            <a:off x="6858000" y="3898900"/>
            <a:ext cx="177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 b="1">
                <a:solidFill>
                  <a:srgbClr val="16C6B7"/>
                </a:solidFill>
                <a:latin typeface="Aptos" panose="020B0004020202020204" pitchFamily="34" charset="0"/>
              </a:rPr>
              <a:t>Готово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9AA58B-A963-CF54-8F53-DBFE99A28ABF}"/>
              </a:ext>
            </a:extLst>
          </p:cNvPr>
          <p:cNvSpPr txBox="1"/>
          <p:nvPr/>
        </p:nvSpPr>
        <p:spPr>
          <a:xfrm>
            <a:off x="9169400" y="3898900"/>
            <a:ext cx="571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526778"/>
                </a:solidFill>
                <a:latin typeface="Aptos" panose="020B0004020202020204" pitchFamily="34" charset="0"/>
              </a:rPr>
              <a:t>YOLO-OBB, tiling, class-aware NMS</a:t>
            </a:r>
            <a:endParaRPr lang="ru-KZ" sz="14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F3C3DC4-68C5-9578-9CBA-A04E711DA7F8}"/>
              </a:ext>
            </a:extLst>
          </p:cNvPr>
          <p:cNvSpPr/>
          <p:nvPr/>
        </p:nvSpPr>
        <p:spPr>
          <a:xfrm>
            <a:off x="685800" y="4457700"/>
            <a:ext cx="14859000" cy="6985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9A1AB7-B3FB-4F62-1450-30CB41A12A63}"/>
              </a:ext>
            </a:extLst>
          </p:cNvPr>
          <p:cNvSpPr txBox="1"/>
          <p:nvPr/>
        </p:nvSpPr>
        <p:spPr>
          <a:xfrm>
            <a:off x="990600" y="4635500"/>
            <a:ext cx="533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500">
                <a:solidFill>
                  <a:srgbClr val="102639"/>
                </a:solidFill>
                <a:latin typeface="Aptos" panose="020B0004020202020204" pitchFamily="34" charset="0"/>
              </a:rPr>
              <a:t>Пара «до / после» и chronology</a:t>
            </a:r>
            <a:endParaRPr lang="ru-KZ" sz="1500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D45A9A-6F72-6E61-76D7-5E1C2209930A}"/>
              </a:ext>
            </a:extLst>
          </p:cNvPr>
          <p:cNvSpPr txBox="1"/>
          <p:nvPr/>
        </p:nvSpPr>
        <p:spPr>
          <a:xfrm>
            <a:off x="6858000" y="4635500"/>
            <a:ext cx="177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 b="1">
                <a:solidFill>
                  <a:srgbClr val="FF965A"/>
                </a:solidFill>
                <a:latin typeface="Aptos" panose="020B0004020202020204" pitchFamily="34" charset="0"/>
              </a:rPr>
              <a:t>Частично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CDC4CD-C894-5330-71D9-4CEEB0CFA37A}"/>
              </a:ext>
            </a:extLst>
          </p:cNvPr>
          <p:cNvSpPr txBox="1"/>
          <p:nvPr/>
        </p:nvSpPr>
        <p:spPr>
          <a:xfrm>
            <a:off x="9169400" y="4635500"/>
            <a:ext cx="571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400">
                <a:solidFill>
                  <a:srgbClr val="526778"/>
                </a:solidFill>
                <a:latin typeface="Aptos" panose="020B0004020202020204" pitchFamily="34" charset="0"/>
              </a:rPr>
              <a:t>events + review; реальная change-model в следующем этапе</a:t>
            </a:r>
            <a:endParaRPr lang="ru-KZ" sz="14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CF1B1D-49A4-2596-1B1B-CF00E0FC3917}"/>
              </a:ext>
            </a:extLst>
          </p:cNvPr>
          <p:cNvSpPr/>
          <p:nvPr/>
        </p:nvSpPr>
        <p:spPr>
          <a:xfrm>
            <a:off x="685800" y="5194300"/>
            <a:ext cx="14859000" cy="698500"/>
          </a:xfrm>
          <a:prstGeom prst="rect">
            <a:avLst/>
          </a:prstGeom>
          <a:solidFill>
            <a:srgbClr val="EFF4F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F95D508-CEB0-AF23-9667-C3C28BEF372E}"/>
              </a:ext>
            </a:extLst>
          </p:cNvPr>
          <p:cNvSpPr txBox="1"/>
          <p:nvPr/>
        </p:nvSpPr>
        <p:spPr>
          <a:xfrm>
            <a:off x="990600" y="5372100"/>
            <a:ext cx="533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>
                <a:solidFill>
                  <a:srgbClr val="102639"/>
                </a:solidFill>
                <a:latin typeface="Aptos" panose="020B0004020202020204" pitchFamily="34" charset="0"/>
              </a:rPr>
              <a:t>Экспертная проверка и история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D8477C-0C4C-3F92-8ACB-C41BDF19F3FB}"/>
              </a:ext>
            </a:extLst>
          </p:cNvPr>
          <p:cNvSpPr txBox="1"/>
          <p:nvPr/>
        </p:nvSpPr>
        <p:spPr>
          <a:xfrm>
            <a:off x="6858000" y="5372100"/>
            <a:ext cx="177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 b="1">
                <a:solidFill>
                  <a:srgbClr val="16C6B7"/>
                </a:solidFill>
                <a:latin typeface="Aptos" panose="020B0004020202020204" pitchFamily="34" charset="0"/>
              </a:rPr>
              <a:t>Готово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86AE14-0DB7-9A91-A75A-807C41D5D5B1}"/>
              </a:ext>
            </a:extLst>
          </p:cNvPr>
          <p:cNvSpPr txBox="1"/>
          <p:nvPr/>
        </p:nvSpPr>
        <p:spPr>
          <a:xfrm>
            <a:off x="9169400" y="5372100"/>
            <a:ext cx="571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526778"/>
                </a:solidFill>
                <a:latin typeface="Aptos" panose="020B0004020202020204" pitchFamily="34" charset="0"/>
              </a:rPr>
              <a:t>review queue, SQLite persistence, cases</a:t>
            </a:r>
            <a:endParaRPr lang="ru-KZ" sz="14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071F428-1243-DD9C-8E30-A92D4514D5CA}"/>
              </a:ext>
            </a:extLst>
          </p:cNvPr>
          <p:cNvSpPr/>
          <p:nvPr/>
        </p:nvSpPr>
        <p:spPr>
          <a:xfrm>
            <a:off x="685800" y="5930900"/>
            <a:ext cx="14859000" cy="6985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3CF3DC-8B0E-1D03-F5B3-67DDDCB15FC2}"/>
              </a:ext>
            </a:extLst>
          </p:cNvPr>
          <p:cNvSpPr txBox="1"/>
          <p:nvPr/>
        </p:nvSpPr>
        <p:spPr>
          <a:xfrm>
            <a:off x="990600" y="6108700"/>
            <a:ext cx="533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>
                <a:solidFill>
                  <a:srgbClr val="102639"/>
                </a:solidFill>
                <a:latin typeface="Aptos" panose="020B0004020202020204" pitchFamily="34" charset="0"/>
              </a:rPr>
              <a:t>Отчёты и интеграция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3505D31-D99F-2503-6DDB-02F2EA0BA8CC}"/>
              </a:ext>
            </a:extLst>
          </p:cNvPr>
          <p:cNvSpPr txBox="1"/>
          <p:nvPr/>
        </p:nvSpPr>
        <p:spPr>
          <a:xfrm>
            <a:off x="6858000" y="6108700"/>
            <a:ext cx="177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 b="1">
                <a:solidFill>
                  <a:srgbClr val="16C6B7"/>
                </a:solidFill>
                <a:latin typeface="Aptos" panose="020B0004020202020204" pitchFamily="34" charset="0"/>
              </a:rPr>
              <a:t>Готово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E088B6A-8D46-BF4F-A1FF-3DFBB33D323A}"/>
              </a:ext>
            </a:extLst>
          </p:cNvPr>
          <p:cNvSpPr txBox="1"/>
          <p:nvPr/>
        </p:nvSpPr>
        <p:spPr>
          <a:xfrm>
            <a:off x="9169400" y="6108700"/>
            <a:ext cx="571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526778"/>
                </a:solidFill>
                <a:latin typeface="Aptos" panose="020B0004020202020204" pitchFamily="34" charset="0"/>
              </a:rPr>
              <a:t>JSON, CSV, HTML, PDF, ZIP </a:t>
            </a:r>
            <a:r>
              <a:rPr lang="ru-KZ" sz="1400">
                <a:solidFill>
                  <a:srgbClr val="526778"/>
                </a:solidFill>
                <a:latin typeface="Aptos" panose="020B0004020202020204" pitchFamily="34" charset="0"/>
              </a:rPr>
              <a:t>и </a:t>
            </a:r>
            <a:r>
              <a:rPr lang="en-US" sz="1400">
                <a:solidFill>
                  <a:srgbClr val="526778"/>
                </a:solidFill>
                <a:latin typeface="Aptos" panose="020B0004020202020204" pitchFamily="34" charset="0"/>
              </a:rPr>
              <a:t>FastAPI</a:t>
            </a:r>
            <a:endParaRPr lang="ru-KZ" sz="14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77A502F-F104-D9C9-C270-153BC4AF1251}"/>
              </a:ext>
            </a:extLst>
          </p:cNvPr>
          <p:cNvSpPr/>
          <p:nvPr/>
        </p:nvSpPr>
        <p:spPr>
          <a:xfrm>
            <a:off x="685800" y="6667500"/>
            <a:ext cx="14859000" cy="698500"/>
          </a:xfrm>
          <a:prstGeom prst="rect">
            <a:avLst/>
          </a:prstGeom>
          <a:solidFill>
            <a:srgbClr val="EFF4F9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BB141F7-81E1-DF07-91CE-69D690839B38}"/>
              </a:ext>
            </a:extLst>
          </p:cNvPr>
          <p:cNvSpPr txBox="1"/>
          <p:nvPr/>
        </p:nvSpPr>
        <p:spPr>
          <a:xfrm>
            <a:off x="990600" y="6845300"/>
            <a:ext cx="533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>
                <a:solidFill>
                  <a:srgbClr val="102639"/>
                </a:solidFill>
                <a:latin typeface="Aptos" panose="020B0004020202020204" pitchFamily="34" charset="0"/>
              </a:rPr>
              <a:t>Google Earth Engine</a:t>
            </a:r>
            <a:endParaRPr lang="ru-KZ" sz="1500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63DABF1-4C19-9BE5-A6ED-8F8BE3699B18}"/>
              </a:ext>
            </a:extLst>
          </p:cNvPr>
          <p:cNvSpPr txBox="1"/>
          <p:nvPr/>
        </p:nvSpPr>
        <p:spPr>
          <a:xfrm>
            <a:off x="6858000" y="6845300"/>
            <a:ext cx="1778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500" b="1">
                <a:solidFill>
                  <a:srgbClr val="FF965A"/>
                </a:solidFill>
                <a:latin typeface="Aptos" panose="020B0004020202020204" pitchFamily="34" charset="0"/>
              </a:rPr>
              <a:t>Частично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9EB881-3108-BFE2-8CBE-3C9E3BEB263C}"/>
              </a:ext>
            </a:extLst>
          </p:cNvPr>
          <p:cNvSpPr txBox="1"/>
          <p:nvPr/>
        </p:nvSpPr>
        <p:spPr>
          <a:xfrm>
            <a:off x="9169400" y="6845300"/>
            <a:ext cx="571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400">
                <a:solidFill>
                  <a:srgbClr val="526778"/>
                </a:solidFill>
                <a:latin typeface="Aptos" panose="020B0004020202020204" pitchFamily="34" charset="0"/>
              </a:rPr>
              <a:t>metadata adapter; </a:t>
            </a:r>
            <a:r>
              <a:rPr lang="ru-KZ" sz="1400">
                <a:solidFill>
                  <a:srgbClr val="526778"/>
                </a:solidFill>
                <a:latin typeface="Aptos" panose="020B0004020202020204" pitchFamily="34" charset="0"/>
              </a:rPr>
              <a:t>нужен </a:t>
            </a:r>
            <a:r>
              <a:rPr lang="en-US" sz="1400">
                <a:solidFill>
                  <a:srgbClr val="526778"/>
                </a:solidFill>
                <a:latin typeface="Aptos" panose="020B0004020202020204" pitchFamily="34" charset="0"/>
              </a:rPr>
              <a:t>Cloud Project </a:t>
            </a:r>
            <a:r>
              <a:rPr lang="ru-KZ" sz="1400">
                <a:solidFill>
                  <a:srgbClr val="526778"/>
                </a:solidFill>
                <a:latin typeface="Aptos" panose="020B0004020202020204" pitchFamily="34" charset="0"/>
              </a:rPr>
              <a:t>и </a:t>
            </a:r>
            <a:r>
              <a:rPr lang="en-US" sz="1400">
                <a:solidFill>
                  <a:srgbClr val="526778"/>
                </a:solidFill>
                <a:latin typeface="Aptos" panose="020B0004020202020204" pitchFamily="34" charset="0"/>
              </a:rPr>
              <a:t>auth</a:t>
            </a:r>
            <a:endParaRPr lang="ru-KZ" sz="14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5587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7DCCC5-2B4F-0956-5E69-D973096E5C33}"/>
              </a:ext>
            </a:extLst>
          </p:cNvPr>
          <p:cNvSpPr txBox="1"/>
          <p:nvPr/>
        </p:nvSpPr>
        <p:spPr>
          <a:xfrm>
            <a:off x="685800" y="381000"/>
            <a:ext cx="254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6C6B7"/>
                </a:solidFill>
                <a:latin typeface="Aptos" panose="020B0004020202020204" pitchFamily="34" charset="0"/>
              </a:rPr>
              <a:t>GEOWATCH AI</a:t>
            </a:r>
            <a:endParaRPr lang="ru-KZ" sz="15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73616F-FBE4-FEDC-FED2-B7BF1FB55966}"/>
              </a:ext>
            </a:extLst>
          </p:cNvPr>
          <p:cNvSpPr txBox="1"/>
          <p:nvPr/>
        </p:nvSpPr>
        <p:spPr>
          <a:xfrm>
            <a:off x="685800" y="1041400"/>
            <a:ext cx="13970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2800" b="1">
                <a:solidFill>
                  <a:srgbClr val="102639"/>
                </a:solidFill>
                <a:latin typeface="Aptos" panose="020B0004020202020204" pitchFamily="34" charset="0"/>
              </a:rPr>
              <a:t>Сценарий live demo: 4–5 минут</a:t>
            </a:r>
            <a:endParaRPr lang="ru-KZ" sz="28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326656-D3CC-6854-B012-B8A0BC7D0782}"/>
              </a:ext>
            </a:extLst>
          </p:cNvPr>
          <p:cNvSpPr txBox="1"/>
          <p:nvPr/>
        </p:nvSpPr>
        <p:spPr>
          <a:xfrm>
            <a:off x="14909800" y="406400"/>
            <a:ext cx="660400" cy="20774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300" b="1">
                <a:solidFill>
                  <a:srgbClr val="526778"/>
                </a:solidFill>
                <a:latin typeface="Aptos" panose="020B0004020202020204" pitchFamily="34" charset="0"/>
              </a:rPr>
              <a:t>09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2A9D0-387D-AE32-1D9C-BE7B2D745A74}"/>
              </a:ext>
            </a:extLst>
          </p:cNvPr>
          <p:cNvCxnSpPr/>
          <p:nvPr/>
        </p:nvCxnSpPr>
        <p:spPr>
          <a:xfrm>
            <a:off x="685800" y="1841500"/>
            <a:ext cx="14871700" cy="0"/>
          </a:xfrm>
          <a:prstGeom prst="line">
            <a:avLst/>
          </a:prstGeom>
          <a:ln w="12700">
            <a:solidFill>
              <a:srgbClr val="DA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E5243EB-A84F-CC60-0447-71CBFF74865C}"/>
              </a:ext>
            </a:extLst>
          </p:cNvPr>
          <p:cNvSpPr/>
          <p:nvPr/>
        </p:nvSpPr>
        <p:spPr>
          <a:xfrm>
            <a:off x="889000" y="2387600"/>
            <a:ext cx="889000" cy="889000"/>
          </a:xfrm>
          <a:prstGeom prst="roundRect">
            <a:avLst/>
          </a:prstGeom>
          <a:solidFill>
            <a:srgbClr val="315B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930BD8-932E-0B82-D344-5C71132A3510}"/>
              </a:ext>
            </a:extLst>
          </p:cNvPr>
          <p:cNvSpPr txBox="1"/>
          <p:nvPr/>
        </p:nvSpPr>
        <p:spPr>
          <a:xfrm>
            <a:off x="1104900" y="26670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700" b="1">
                <a:solidFill>
                  <a:srgbClr val="FFFFFF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47CAC7-DE75-F538-10E9-7433A9E4DB5F}"/>
              </a:ext>
            </a:extLst>
          </p:cNvPr>
          <p:cNvSpPr txBox="1"/>
          <p:nvPr/>
        </p:nvSpPr>
        <p:spPr>
          <a:xfrm>
            <a:off x="2247900" y="2451100"/>
            <a:ext cx="330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100" b="1">
                <a:solidFill>
                  <a:srgbClr val="102639"/>
                </a:solidFill>
                <a:latin typeface="Aptos" panose="020B0004020202020204" pitchFamily="34" charset="0"/>
              </a:rPr>
              <a:t>Контекст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474C52-2BC5-592F-FD47-23A6D31E407A}"/>
              </a:ext>
            </a:extLst>
          </p:cNvPr>
          <p:cNvSpPr txBox="1"/>
          <p:nvPr/>
        </p:nvSpPr>
        <p:spPr>
          <a:xfrm>
            <a:off x="2247900" y="2908300"/>
            <a:ext cx="9144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700">
                <a:solidFill>
                  <a:srgbClr val="526778"/>
                </a:solidFill>
                <a:latin typeface="Aptos" panose="020B0004020202020204" pitchFamily="34" charset="0"/>
              </a:rPr>
              <a:t>Показываем задачу аналитика и правило human review</a:t>
            </a:r>
            <a:endParaRPr lang="ru-KZ" sz="17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2E6AEA3-5C9C-B070-E7C5-F41A3DAEE6EA}"/>
              </a:ext>
            </a:extLst>
          </p:cNvPr>
          <p:cNvSpPr/>
          <p:nvPr/>
        </p:nvSpPr>
        <p:spPr>
          <a:xfrm>
            <a:off x="889000" y="3695700"/>
            <a:ext cx="889000" cy="889000"/>
          </a:xfrm>
          <a:prstGeom prst="roundRect">
            <a:avLst/>
          </a:prstGeom>
          <a:solidFill>
            <a:srgbClr val="16C6B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D06DC-F5DC-AED3-BF49-D3EE61C42C96}"/>
              </a:ext>
            </a:extLst>
          </p:cNvPr>
          <p:cNvSpPr txBox="1"/>
          <p:nvPr/>
        </p:nvSpPr>
        <p:spPr>
          <a:xfrm>
            <a:off x="1104900" y="39751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700" b="1">
                <a:solidFill>
                  <a:srgbClr val="FFFFFF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400EC3-4DDD-94CA-8530-4BA20A1E3206}"/>
              </a:ext>
            </a:extLst>
          </p:cNvPr>
          <p:cNvSpPr txBox="1"/>
          <p:nvPr/>
        </p:nvSpPr>
        <p:spPr>
          <a:xfrm>
            <a:off x="2247900" y="3759200"/>
            <a:ext cx="330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100" b="1">
                <a:solidFill>
                  <a:srgbClr val="102639"/>
                </a:solidFill>
                <a:latin typeface="Aptos" panose="020B0004020202020204" pitchFamily="34" charset="0"/>
              </a:rPr>
              <a:t>Temporal demo</a:t>
            </a:r>
            <a:endParaRPr lang="ru-KZ" sz="21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2A9168-DD19-DDDE-AF75-0793612D149C}"/>
              </a:ext>
            </a:extLst>
          </p:cNvPr>
          <p:cNvSpPr txBox="1"/>
          <p:nvPr/>
        </p:nvSpPr>
        <p:spPr>
          <a:xfrm>
            <a:off x="2247900" y="4216400"/>
            <a:ext cx="9144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700">
                <a:solidFill>
                  <a:srgbClr val="526778"/>
                </a:solidFill>
                <a:latin typeface="Aptos" panose="020B0004020202020204" pitchFamily="34" charset="0"/>
              </a:rPr>
              <a:t>Открываем пару «до / после», выбираем событие и evidence</a:t>
            </a:r>
            <a:endParaRPr lang="ru-KZ" sz="17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E2441C1-EA95-F6D4-5613-D87937FAC2AF}"/>
              </a:ext>
            </a:extLst>
          </p:cNvPr>
          <p:cNvSpPr/>
          <p:nvPr/>
        </p:nvSpPr>
        <p:spPr>
          <a:xfrm>
            <a:off x="889000" y="5003800"/>
            <a:ext cx="889000" cy="889000"/>
          </a:xfrm>
          <a:prstGeom prst="roundRect">
            <a:avLst/>
          </a:prstGeom>
          <a:solidFill>
            <a:srgbClr val="315BF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D64E19-7A44-7509-8E1D-CDFE7644CE77}"/>
              </a:ext>
            </a:extLst>
          </p:cNvPr>
          <p:cNvSpPr txBox="1"/>
          <p:nvPr/>
        </p:nvSpPr>
        <p:spPr>
          <a:xfrm>
            <a:off x="1104900" y="52832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700" b="1">
                <a:solidFill>
                  <a:srgbClr val="FFFFFF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4F9849-D2FD-D36D-E2F1-2198955ED653}"/>
              </a:ext>
            </a:extLst>
          </p:cNvPr>
          <p:cNvSpPr txBox="1"/>
          <p:nvPr/>
        </p:nvSpPr>
        <p:spPr>
          <a:xfrm>
            <a:off x="2247900" y="5067300"/>
            <a:ext cx="330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100" b="1">
                <a:solidFill>
                  <a:srgbClr val="102639"/>
                </a:solidFill>
                <a:latin typeface="Aptos" panose="020B0004020202020204" pitchFamily="34" charset="0"/>
              </a:rPr>
              <a:t>Review → case</a:t>
            </a:r>
            <a:endParaRPr lang="ru-KZ" sz="21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CB2D5E-F8A9-F271-076A-B030468A9442}"/>
              </a:ext>
            </a:extLst>
          </p:cNvPr>
          <p:cNvSpPr txBox="1"/>
          <p:nvPr/>
        </p:nvSpPr>
        <p:spPr>
          <a:xfrm>
            <a:off x="2247900" y="5524500"/>
            <a:ext cx="9144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700">
                <a:solidFill>
                  <a:srgbClr val="526778"/>
                </a:solidFill>
                <a:latin typeface="Aptos" panose="020B0004020202020204" pitchFamily="34" charset="0"/>
              </a:rPr>
              <a:t>Сохраняем confirmed / rejected / needs_review, создаём кейс</a:t>
            </a:r>
            <a:endParaRPr lang="ru-KZ" sz="17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99E6711-B3C2-24DA-2A9D-1CE50831667F}"/>
              </a:ext>
            </a:extLst>
          </p:cNvPr>
          <p:cNvSpPr/>
          <p:nvPr/>
        </p:nvSpPr>
        <p:spPr>
          <a:xfrm>
            <a:off x="889000" y="6311900"/>
            <a:ext cx="889000" cy="889000"/>
          </a:xfrm>
          <a:prstGeom prst="roundRect">
            <a:avLst/>
          </a:prstGeom>
          <a:solidFill>
            <a:srgbClr val="16C6B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53F52C-2A05-B378-150B-34E0B52CDB4A}"/>
              </a:ext>
            </a:extLst>
          </p:cNvPr>
          <p:cNvSpPr txBox="1"/>
          <p:nvPr/>
        </p:nvSpPr>
        <p:spPr>
          <a:xfrm>
            <a:off x="1104900" y="6591300"/>
            <a:ext cx="4826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700" b="1">
                <a:solidFill>
                  <a:srgbClr val="FFFFFF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AF6536-2A6B-886A-148B-AFE996B1FD5B}"/>
              </a:ext>
            </a:extLst>
          </p:cNvPr>
          <p:cNvSpPr txBox="1"/>
          <p:nvPr/>
        </p:nvSpPr>
        <p:spPr>
          <a:xfrm>
            <a:off x="2247900" y="6375400"/>
            <a:ext cx="3302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100" b="1">
                <a:solidFill>
                  <a:srgbClr val="102639"/>
                </a:solidFill>
                <a:latin typeface="Aptos" panose="020B0004020202020204" pitchFamily="34" charset="0"/>
              </a:rPr>
              <a:t>Export</a:t>
            </a:r>
            <a:endParaRPr lang="ru-KZ" sz="21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812D24-6108-781F-617E-EE23A5EDB0B8}"/>
              </a:ext>
            </a:extLst>
          </p:cNvPr>
          <p:cNvSpPr txBox="1"/>
          <p:nvPr/>
        </p:nvSpPr>
        <p:spPr>
          <a:xfrm>
            <a:off x="2247900" y="6832600"/>
            <a:ext cx="9144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700">
                <a:solidFill>
                  <a:srgbClr val="526778"/>
                </a:solidFill>
                <a:latin typeface="Aptos" panose="020B0004020202020204" pitchFamily="34" charset="0"/>
              </a:rPr>
              <a:t>Скачиваем </a:t>
            </a:r>
            <a:r>
              <a:rPr lang="en-US" sz="1700">
                <a:solidFill>
                  <a:srgbClr val="526778"/>
                </a:solidFill>
                <a:latin typeface="Aptos" panose="020B0004020202020204" pitchFamily="34" charset="0"/>
              </a:rPr>
              <a:t>ZIP-</a:t>
            </a:r>
            <a:r>
              <a:rPr lang="ru-KZ" sz="1700">
                <a:solidFill>
                  <a:srgbClr val="526778"/>
                </a:solidFill>
                <a:latin typeface="Aptos" panose="020B0004020202020204" pitchFamily="34" charset="0"/>
              </a:rPr>
              <a:t>пакет: </a:t>
            </a:r>
            <a:r>
              <a:rPr lang="en-US" sz="1700">
                <a:solidFill>
                  <a:srgbClr val="526778"/>
                </a:solidFill>
                <a:latin typeface="Aptos" panose="020B0004020202020204" pitchFamily="34" charset="0"/>
              </a:rPr>
              <a:t>manifest, results, reviews, evidence</a:t>
            </a:r>
            <a:endParaRPr lang="ru-KZ" sz="17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44AB46F-A28A-DB0E-9198-B557392CB75E}"/>
              </a:ext>
            </a:extLst>
          </p:cNvPr>
          <p:cNvSpPr/>
          <p:nvPr/>
        </p:nvSpPr>
        <p:spPr>
          <a:xfrm>
            <a:off x="11772900" y="2590800"/>
            <a:ext cx="3073400" cy="4064000"/>
          </a:xfrm>
          <a:prstGeom prst="roundRect">
            <a:avLst/>
          </a:prstGeom>
          <a:solidFill>
            <a:srgbClr val="E2F8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72F878-F2C4-2ACC-E044-B5B830E49A7C}"/>
              </a:ext>
            </a:extLst>
          </p:cNvPr>
          <p:cNvSpPr txBox="1"/>
          <p:nvPr/>
        </p:nvSpPr>
        <p:spPr>
          <a:xfrm>
            <a:off x="12128500" y="2984500"/>
            <a:ext cx="2286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000" b="1">
                <a:solidFill>
                  <a:srgbClr val="102639"/>
                </a:solidFill>
                <a:latin typeface="Aptos" panose="020B0004020202020204" pitchFamily="34" charset="0"/>
              </a:rPr>
              <a:t>Резервный режим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36F143-42AA-48D5-AA3F-D5F072DD0C1E}"/>
              </a:ext>
            </a:extLst>
          </p:cNvPr>
          <p:cNvSpPr txBox="1"/>
          <p:nvPr/>
        </p:nvSpPr>
        <p:spPr>
          <a:xfrm>
            <a:off x="12128500" y="3708400"/>
            <a:ext cx="2286000" cy="147732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600">
                <a:solidFill>
                  <a:srgbClr val="526778"/>
                </a:solidFill>
                <a:latin typeface="Aptos" panose="020B0004020202020204" pitchFamily="34" charset="0"/>
              </a:rPr>
              <a:t>Если сеть, GPU или Earth Engine недоступны, показываем локальный demo-кейс. Модель не подменяет результат фиктивными detections.</a:t>
            </a:r>
            <a:endParaRPr lang="ru-KZ" sz="16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844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853D80-149D-9470-EEF8-03CB82965550}"/>
              </a:ext>
            </a:extLst>
          </p:cNvPr>
          <p:cNvSpPr txBox="1"/>
          <p:nvPr/>
        </p:nvSpPr>
        <p:spPr>
          <a:xfrm>
            <a:off x="685800" y="381000"/>
            <a:ext cx="2540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>
                <a:solidFill>
                  <a:srgbClr val="16C6B7"/>
                </a:solidFill>
                <a:latin typeface="Aptos" panose="020B0004020202020204" pitchFamily="34" charset="0"/>
              </a:rPr>
              <a:t>GEOWATCH AI</a:t>
            </a:r>
            <a:endParaRPr lang="ru-KZ" sz="15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45947-CFDB-F315-9C52-309DBCA880B3}"/>
              </a:ext>
            </a:extLst>
          </p:cNvPr>
          <p:cNvSpPr txBox="1"/>
          <p:nvPr/>
        </p:nvSpPr>
        <p:spPr>
          <a:xfrm>
            <a:off x="685800" y="1041400"/>
            <a:ext cx="13970000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2800" b="1">
                <a:solidFill>
                  <a:srgbClr val="102639"/>
                </a:solidFill>
                <a:latin typeface="Aptos" panose="020B0004020202020204" pitchFamily="34" charset="0"/>
              </a:rPr>
              <a:t>Команда и комплект для отправки</a:t>
            </a:r>
            <a:endParaRPr lang="ru-KZ" sz="28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A8D496-F60D-6E52-6BB9-5DBE98A9904B}"/>
              </a:ext>
            </a:extLst>
          </p:cNvPr>
          <p:cNvSpPr txBox="1"/>
          <p:nvPr/>
        </p:nvSpPr>
        <p:spPr>
          <a:xfrm>
            <a:off x="14909800" y="406400"/>
            <a:ext cx="660400" cy="20774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300" b="1">
                <a:solidFill>
                  <a:srgbClr val="526778"/>
                </a:solidFill>
                <a:latin typeface="Aptos" panose="020B0004020202020204" pitchFamily="34" charset="0"/>
              </a:rPr>
              <a:t>10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616DDF3-8B92-D52B-DB33-54A0CE887DBC}"/>
              </a:ext>
            </a:extLst>
          </p:cNvPr>
          <p:cNvCxnSpPr/>
          <p:nvPr/>
        </p:nvCxnSpPr>
        <p:spPr>
          <a:xfrm>
            <a:off x="685800" y="1841500"/>
            <a:ext cx="14871700" cy="0"/>
          </a:xfrm>
          <a:prstGeom prst="line">
            <a:avLst/>
          </a:prstGeom>
          <a:ln w="12700">
            <a:solidFill>
              <a:srgbClr val="DAE2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767A5EE-6D00-E870-FDFC-68E3778A07E4}"/>
              </a:ext>
            </a:extLst>
          </p:cNvPr>
          <p:cNvSpPr txBox="1"/>
          <p:nvPr/>
        </p:nvSpPr>
        <p:spPr>
          <a:xfrm>
            <a:off x="685800" y="2286000"/>
            <a:ext cx="13716000" cy="67710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2200" b="1">
                <a:solidFill>
                  <a:srgbClr val="102639"/>
                </a:solidFill>
                <a:latin typeface="Aptos" panose="020B0004020202020204" pitchFamily="34" charset="0"/>
              </a:rPr>
              <a:t>GeoWatch AI готов к показу как честный конкурсный MVP с локальным demo-flow и проверяемыми артефактами.</a:t>
            </a:r>
            <a:endParaRPr lang="ru-KZ" sz="2200" b="1">
              <a:solidFill>
                <a:srgbClr val="102639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57B2486-97FA-0176-E804-E78565410DCB}"/>
              </a:ext>
            </a:extLst>
          </p:cNvPr>
          <p:cNvSpPr/>
          <p:nvPr/>
        </p:nvSpPr>
        <p:spPr>
          <a:xfrm>
            <a:off x="685800" y="3429000"/>
            <a:ext cx="4445000" cy="2590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F13E22-7B9F-ECF0-A1CA-4651DAA4D18D}"/>
              </a:ext>
            </a:extLst>
          </p:cNvPr>
          <p:cNvSpPr txBox="1"/>
          <p:nvPr/>
        </p:nvSpPr>
        <p:spPr>
          <a:xfrm>
            <a:off x="1041400" y="3937000"/>
            <a:ext cx="3175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300" b="1">
                <a:solidFill>
                  <a:srgbClr val="102639"/>
                </a:solidFill>
                <a:latin typeface="Aptos" panose="020B0004020202020204" pitchFamily="34" charset="0"/>
              </a:rPr>
              <a:t>Бижан Әлижан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531079-B9FA-C825-A1D5-37C7F4E92ACD}"/>
              </a:ext>
            </a:extLst>
          </p:cNvPr>
          <p:cNvSpPr txBox="1"/>
          <p:nvPr/>
        </p:nvSpPr>
        <p:spPr>
          <a:xfrm>
            <a:off x="1041400" y="44831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 b="1">
                <a:solidFill>
                  <a:srgbClr val="16C6B7"/>
                </a:solidFill>
                <a:latin typeface="Aptos" panose="020B0004020202020204" pitchFamily="34" charset="0"/>
              </a:rPr>
              <a:t>Team Lead</a:t>
            </a:r>
            <a:endParaRPr lang="ru-KZ" sz="1800" b="1">
              <a:solidFill>
                <a:srgbClr val="16C6B7"/>
              </a:solidFill>
              <a:latin typeface="Aptos" panose="020B00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BC9ED-F27F-856F-79E5-4FBB49684CD2}"/>
              </a:ext>
            </a:extLst>
          </p:cNvPr>
          <p:cNvSpPr txBox="1"/>
          <p:nvPr/>
        </p:nvSpPr>
        <p:spPr>
          <a:xfrm>
            <a:off x="1041400" y="5067300"/>
            <a:ext cx="3302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1600">
                <a:solidFill>
                  <a:srgbClr val="526778"/>
                </a:solidFill>
                <a:latin typeface="Aptos" panose="020B0004020202020204" pitchFamily="34" charset="0"/>
              </a:rPr>
              <a:t>Продукт, </a:t>
            </a:r>
            <a:r>
              <a:rPr lang="en-US" sz="1600">
                <a:solidFill>
                  <a:srgbClr val="526778"/>
                </a:solidFill>
                <a:latin typeface="Aptos" panose="020B0004020202020204" pitchFamily="34" charset="0"/>
              </a:rPr>
              <a:t>ML-</a:t>
            </a:r>
            <a:r>
              <a:rPr lang="ru-KZ" sz="1600">
                <a:solidFill>
                  <a:srgbClr val="526778"/>
                </a:solidFill>
                <a:latin typeface="Aptos" panose="020B0004020202020204" pitchFamily="34" charset="0"/>
              </a:rPr>
              <a:t>пайплайн, интеграция, </a:t>
            </a:r>
            <a:r>
              <a:rPr lang="en-US" sz="1600">
                <a:solidFill>
                  <a:srgbClr val="526778"/>
                </a:solidFill>
                <a:latin typeface="Aptos" panose="020B0004020202020204" pitchFamily="34" charset="0"/>
              </a:rPr>
              <a:t>demo</a:t>
            </a:r>
            <a:endParaRPr lang="ru-KZ" sz="16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DCFECD-5C08-6CA5-7CBD-A870605B2BBE}"/>
              </a:ext>
            </a:extLst>
          </p:cNvPr>
          <p:cNvSpPr/>
          <p:nvPr/>
        </p:nvSpPr>
        <p:spPr>
          <a:xfrm>
            <a:off x="5905500" y="3429000"/>
            <a:ext cx="4445000" cy="2590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EFFC31-C392-D0C7-FB13-0CCEF58B0705}"/>
              </a:ext>
            </a:extLst>
          </p:cNvPr>
          <p:cNvSpPr txBox="1"/>
          <p:nvPr/>
        </p:nvSpPr>
        <p:spPr>
          <a:xfrm>
            <a:off x="6261100" y="3937000"/>
            <a:ext cx="3175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300" b="1">
                <a:solidFill>
                  <a:srgbClr val="102639"/>
                </a:solidFill>
                <a:latin typeface="Aptos" panose="020B0004020202020204" pitchFamily="34" charset="0"/>
              </a:rPr>
              <a:t>Қанымбек Марат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87C9F0-5E8B-EBAD-07E2-3FCBF023BEB4}"/>
              </a:ext>
            </a:extLst>
          </p:cNvPr>
          <p:cNvSpPr txBox="1"/>
          <p:nvPr/>
        </p:nvSpPr>
        <p:spPr>
          <a:xfrm>
            <a:off x="6261100" y="44831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 b="1">
                <a:solidFill>
                  <a:srgbClr val="315BFE"/>
                </a:solidFill>
                <a:latin typeface="Aptos" panose="020B0004020202020204" pitchFamily="34" charset="0"/>
              </a:rPr>
              <a:t>Backend</a:t>
            </a:r>
            <a:endParaRPr lang="ru-KZ" sz="1800" b="1">
              <a:solidFill>
                <a:srgbClr val="315BFE"/>
              </a:solidFill>
              <a:latin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338A11-6B5F-EF7A-0A49-956147E9A180}"/>
              </a:ext>
            </a:extLst>
          </p:cNvPr>
          <p:cNvSpPr txBox="1"/>
          <p:nvPr/>
        </p:nvSpPr>
        <p:spPr>
          <a:xfrm>
            <a:off x="6261100" y="5067300"/>
            <a:ext cx="3302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>
                <a:solidFill>
                  <a:srgbClr val="526778"/>
                </a:solidFill>
                <a:latin typeface="Aptos" panose="020B0004020202020204" pitchFamily="34" charset="0"/>
              </a:rPr>
              <a:t>API, persistence, review </a:t>
            </a:r>
            <a:r>
              <a:rPr lang="ru-KZ" sz="1600">
                <a:solidFill>
                  <a:srgbClr val="526778"/>
                </a:solidFill>
                <a:latin typeface="Aptos" panose="020B0004020202020204" pitchFamily="34" charset="0"/>
              </a:rPr>
              <a:t>и </a:t>
            </a:r>
            <a:r>
              <a:rPr lang="en-US" sz="1600">
                <a:solidFill>
                  <a:srgbClr val="526778"/>
                </a:solidFill>
                <a:latin typeface="Aptos" panose="020B0004020202020204" pitchFamily="34" charset="0"/>
              </a:rPr>
              <a:t>exports</a:t>
            </a:r>
            <a:endParaRPr lang="ru-KZ" sz="16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F71F77-9627-3C10-ABC3-34BB1ED143ED}"/>
              </a:ext>
            </a:extLst>
          </p:cNvPr>
          <p:cNvSpPr/>
          <p:nvPr/>
        </p:nvSpPr>
        <p:spPr>
          <a:xfrm>
            <a:off x="11125200" y="3429000"/>
            <a:ext cx="4445000" cy="25908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>
            <a:outerShdw blurRad="63500" dist="37357" dir="2700000" rotWithShape="0">
              <a:srgbClr val="CAD4E2">
                <a:alpha val="25000"/>
              </a:srgbClr>
            </a:outerShdw>
          </a:effectLst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2B3B765-49B6-D8E2-C6FC-66845B4BF776}"/>
              </a:ext>
            </a:extLst>
          </p:cNvPr>
          <p:cNvSpPr txBox="1"/>
          <p:nvPr/>
        </p:nvSpPr>
        <p:spPr>
          <a:xfrm>
            <a:off x="11480800" y="3937000"/>
            <a:ext cx="3175000" cy="3539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KZ" sz="2300" b="1">
                <a:solidFill>
                  <a:srgbClr val="102639"/>
                </a:solidFill>
                <a:latin typeface="Aptos" panose="020B0004020202020204" pitchFamily="34" charset="0"/>
              </a:rPr>
              <a:t>Құлтас Баубек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C29AFA-0C56-62BC-81EB-2426323091A8}"/>
              </a:ext>
            </a:extLst>
          </p:cNvPr>
          <p:cNvSpPr txBox="1"/>
          <p:nvPr/>
        </p:nvSpPr>
        <p:spPr>
          <a:xfrm>
            <a:off x="11480800" y="4483100"/>
            <a:ext cx="203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800" b="1">
                <a:solidFill>
                  <a:srgbClr val="FF965A"/>
                </a:solidFill>
                <a:latin typeface="Aptos" panose="020B0004020202020204" pitchFamily="34" charset="0"/>
              </a:rPr>
              <a:t>Frontend</a:t>
            </a:r>
            <a:endParaRPr lang="ru-KZ" sz="1800" b="1">
              <a:solidFill>
                <a:srgbClr val="FF965A"/>
              </a:solidFill>
              <a:latin typeface="Aptos" panose="020B00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31AEE3-1CA7-5203-0D7F-268DC9646426}"/>
              </a:ext>
            </a:extLst>
          </p:cNvPr>
          <p:cNvSpPr txBox="1"/>
          <p:nvPr/>
        </p:nvSpPr>
        <p:spPr>
          <a:xfrm>
            <a:off x="11480800" y="5067300"/>
            <a:ext cx="3429000" cy="4924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600">
                <a:solidFill>
                  <a:srgbClr val="526778"/>
                </a:solidFill>
                <a:latin typeface="Aptos" panose="020B0004020202020204" pitchFamily="34" charset="0"/>
              </a:rPr>
              <a:t>Интерфейс, визуализация и пользовательский flow</a:t>
            </a:r>
            <a:endParaRPr lang="ru-KZ" sz="1600">
              <a:solidFill>
                <a:srgbClr val="526778"/>
              </a:solidFill>
              <a:latin typeface="Aptos" panose="020B000402020202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CCBFF4D-1D57-3E8D-0B17-BB88DABB1C82}"/>
              </a:ext>
            </a:extLst>
          </p:cNvPr>
          <p:cNvSpPr/>
          <p:nvPr/>
        </p:nvSpPr>
        <p:spPr>
          <a:xfrm>
            <a:off x="685800" y="6985000"/>
            <a:ext cx="14859000" cy="939800"/>
          </a:xfrm>
          <a:prstGeom prst="roundRect">
            <a:avLst/>
          </a:prstGeom>
          <a:solidFill>
            <a:srgbClr val="06182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KZ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53DFD4A-6A39-53A0-497B-3AEEB203F8B9}"/>
              </a:ext>
            </a:extLst>
          </p:cNvPr>
          <p:cNvSpPr txBox="1"/>
          <p:nvPr/>
        </p:nvSpPr>
        <p:spPr>
          <a:xfrm>
            <a:off x="1041400" y="7302500"/>
            <a:ext cx="13462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ru-RU" sz="1700">
                <a:solidFill>
                  <a:srgbClr val="FFFFFF"/>
                </a:solidFill>
                <a:latin typeface="Aptos" panose="020B0004020202020204" pitchFamily="34" charset="0"/>
              </a:rPr>
              <a:t>Вложить в письмо: презентацию (.pptx / .pdf), исходники (.zip), 2 скриншота и ссылку на GitHub.</a:t>
            </a:r>
            <a:endParaRPr lang="ru-KZ" sz="17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84693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723</Words>
  <Application>Microsoft Office PowerPoint</Application>
  <PresentationFormat>Custom</PresentationFormat>
  <Paragraphs>131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Bizhan, Ali</dc:creator>
  <cp:lastModifiedBy>Bizhan, Ali</cp:lastModifiedBy>
  <cp:revision>1</cp:revision>
  <dcterms:created xsi:type="dcterms:W3CDTF">2026-09-10T19:09:40Z</dcterms:created>
  <dcterms:modified xsi:type="dcterms:W3CDTF">2026-09-10T19:09:40Z</dcterms:modified>
</cp:coreProperties>
</file>